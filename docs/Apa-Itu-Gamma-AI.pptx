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ter Medium"/>
      <p:regular r:id="rId201314"/>
    </p:embeddedFont>
    <p:embeddedFont>
      <p:font typeface="Inter Light"/>
      <p:regular r:id="rId201315"/>
    </p:embeddedFont>
    <p:embeddedFont>
      <p:font typeface="Inter Thin"/>
      <p:regular r:id="rId201316"/>
    </p:embeddedFont>
    <p:embeddedFont>
      <p:font typeface="Inter ExtraLight"/>
      <p:regular r:id="rId201317"/>
    </p:embeddedFont>
    <p:embeddedFont>
      <p:font typeface="Inter SemiBold"/>
      <p:regular r:id="rId201318"/>
    </p:embeddedFont>
    <p:embeddedFont>
      <p:font typeface="Inter Bold"/>
      <p:regular r:id="rId201319"/>
    </p:embeddedFont>
    <p:embeddedFont>
      <p:font typeface="Inter ExtraBold"/>
      <p:regular r:id="rId201320"/>
    </p:embeddedFont>
    <p:embeddedFont>
      <p:font typeface="Inter"/>
      <p:regular r:id="rId201321"/>
    </p:embeddedFont>
    <p:embeddedFont>
      <p:font typeface="Inter Black"/>
      <p:regular r:id="rId201322"/>
    </p:embeddedFont>
    <p:embeddedFont>
      <p:font typeface="Petrona Thin"/>
      <p:regular r:id="rId201323"/>
    </p:embeddedFont>
    <p:embeddedFont>
      <p:font typeface="Petrona ExtraLight"/>
      <p:regular r:id="rId201324"/>
    </p:embeddedFont>
    <p:embeddedFont>
      <p:font typeface="Petrona Light"/>
      <p:regular r:id="rId201325"/>
    </p:embeddedFont>
    <p:embeddedFont>
      <p:font typeface="Petrona"/>
      <p:regular r:id="rId201326"/>
    </p:embeddedFont>
    <p:embeddedFont>
      <p:font typeface="Petrona Medium"/>
      <p:regular r:id="rId201327"/>
    </p:embeddedFont>
    <p:embeddedFont>
      <p:font typeface="Petrona SemiBold"/>
      <p:regular r:id="rId201328"/>
    </p:embeddedFont>
    <p:embeddedFont>
      <p:font typeface="Petrona Bold"/>
      <p:regular r:id="rId201329"/>
    </p:embeddedFont>
    <p:embeddedFont>
      <p:font typeface="Petrona ExtraBold"/>
      <p:regular r:id="rId201330"/>
    </p:embeddedFont>
    <p:embeddedFont>
      <p:font typeface="Petrona Black"/>
      <p:regular r:id="rId2013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 Id="rId201335" Target="fonts/20133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hyperlink" Target="http://gamma.app"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4.png"/><Relationship Id="rId8" Type="http://schemas.openxmlformats.org/officeDocument/2006/relationships/image" Target="../media/image-2-5.svg"/><Relationship Id="rId9" Type="http://schemas.openxmlformats.org/officeDocument/2006/relationships/image" Target="../media/image-2-2.png"/><Relationship Id="rId10" Type="http://schemas.openxmlformats.org/officeDocument/2006/relationships/image" Target="../media/image-2-3.sv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069902"/>
            <a:ext cx="6296860" cy="620216"/>
          </a:xfrm>
          <a:prstGeom prst="rect">
            <a:avLst/>
          </a:prstGeom>
          <a:noFill/>
          <a:ln/>
        </p:spPr>
        <p:txBody>
          <a:bodyPr wrap="none" lIns="0" tIns="0" rIns="0" bIns="0" rtlCol="0" anchor="t"/>
          <a:lstStyle/>
          <a:p>
            <a:pPr algn="l" indent="0" marL="0">
              <a:lnSpc>
                <a:spcPct val="104000"/>
              </a:lnSpc>
              <a:buNone/>
            </a:pPr>
            <a:r>
              <a:rPr lang="en-US" sz="3900" b="1" dirty="0">
                <a:solidFill>
                  <a:srgbClr val="000000"/>
                </a:solidFill>
                <a:latin typeface="Petrona Bold" pitchFamily="34" charset="0"/>
                <a:ea typeface="Petrona Bold" pitchFamily="34" charset="-122"/>
                <a:cs typeface="Petrona Bold" pitchFamily="34" charset="-120"/>
              </a:rPr>
              <a:t>Apa Itu Gamma AI</a:t>
            </a:r>
            <a:endParaRPr lang="en-US" sz="3900" dirty="0"/>
          </a:p>
        </p:txBody>
      </p:sp>
      <p:sp>
        <p:nvSpPr>
          <p:cNvPr id="4" name="Text 1"/>
          <p:cNvSpPr/>
          <p:nvPr/>
        </p:nvSpPr>
        <p:spPr>
          <a:xfrm>
            <a:off x="5233360" y="2973586"/>
            <a:ext cx="6296860"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Gamma AI adalah alat presentasi berbasis kecerdasan buatan yang dirancang untuk menyederhanakan dan mempercepat proses pembuatan presentasi. Berbeda dari software presentasi tradisional yang mengharuskan Anda memulai dari slide kosong, Gamma AI menghasilkan draf awal — mulai dari struktur, tata letak, hingga konten teks — hanya berdasarkan masukan sederhana dari pengguna.</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729853"/>
            <a:ext cx="6296860" cy="465138"/>
          </a:xfrm>
          <a:prstGeom prst="rect">
            <a:avLst/>
          </a:prstGeom>
          <a:noFill/>
          <a:ln/>
        </p:spPr>
        <p:txBody>
          <a:bodyPr wrap="none" lIns="0" tIns="0" rIns="0" bIns="0" rtlCol="0" anchor="t"/>
          <a:lstStyle/>
          <a:p>
            <a:pPr algn="l" indent="0" marL="0">
              <a:lnSpc>
                <a:spcPct val="104000"/>
              </a:lnSpc>
              <a:buNone/>
            </a:pPr>
            <a:r>
              <a:rPr lang="en-US" sz="2900" b="1" dirty="0">
                <a:solidFill>
                  <a:srgbClr val="000000"/>
                </a:solidFill>
                <a:latin typeface="Petrona Bold" pitchFamily="34" charset="0"/>
                <a:ea typeface="Petrona Bold" pitchFamily="34" charset="-122"/>
                <a:cs typeface="Petrona Bold" pitchFamily="34" charset="-120"/>
              </a:rPr>
              <a:t>Proses Login dan Registrasi</a:t>
            </a:r>
            <a:endParaRPr lang="en-US" sz="29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354435"/>
            <a:ext cx="6296860" cy="1014512"/>
          </a:xfrm>
          <a:prstGeom prst="rect">
            <a:avLst/>
          </a:prstGeom>
        </p:spPr>
      </p:pic>
      <p:sp>
        <p:nvSpPr>
          <p:cNvPr id="5" name="Text 1"/>
          <p:cNvSpPr/>
          <p:nvPr/>
        </p:nvSpPr>
        <p:spPr>
          <a:xfrm>
            <a:off x="854550" y="1728788"/>
            <a:ext cx="212620" cy="265807"/>
          </a:xfrm>
          <a:prstGeom prst="rect">
            <a:avLst/>
          </a:prstGeom>
          <a:noFill/>
          <a:ln/>
        </p:spPr>
        <p:txBody>
          <a:bodyPr wrap="none" lIns="0" tIns="0" rIns="0" bIns="0" rtlCol="0" anchor="ctr"/>
          <a:lstStyle/>
          <a:p>
            <a:pPr algn="ctr" indent="0" marL="0">
              <a:lnSpc>
                <a:spcPct val="100000"/>
              </a:lnSpc>
              <a:buNone/>
            </a:pPr>
            <a:r>
              <a:rPr lang="en-US" sz="1650" b="1" dirty="0">
                <a:solidFill>
                  <a:srgbClr val="272525"/>
                </a:solidFill>
                <a:latin typeface="Petrona Bold" pitchFamily="34" charset="0"/>
                <a:ea typeface="Petrona Bold" pitchFamily="34" charset="-122"/>
                <a:cs typeface="Petrona Bold" pitchFamily="34" charset="-120"/>
              </a:rPr>
              <a:t>1</a:t>
            </a:r>
            <a:endParaRPr lang="en-US" sz="1650" dirty="0"/>
          </a:p>
        </p:txBody>
      </p:sp>
      <p:sp>
        <p:nvSpPr>
          <p:cNvPr id="6" name="Text 2"/>
          <p:cNvSpPr/>
          <p:nvPr/>
        </p:nvSpPr>
        <p:spPr>
          <a:xfrm>
            <a:off x="1353806" y="1515170"/>
            <a:ext cx="5443798" cy="232470"/>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Petrona Bold" pitchFamily="34" charset="0"/>
                <a:ea typeface="Petrona Bold" pitchFamily="34" charset="-122"/>
                <a:cs typeface="Petrona Bold" pitchFamily="34" charset="-120"/>
              </a:rPr>
              <a:t>Membuka situs</a:t>
            </a:r>
            <a:endParaRPr lang="en-US" sz="1450" dirty="0"/>
          </a:p>
        </p:txBody>
      </p:sp>
      <p:sp>
        <p:nvSpPr>
          <p:cNvPr id="7" name="Text 3"/>
          <p:cNvSpPr/>
          <p:nvPr/>
        </p:nvSpPr>
        <p:spPr>
          <a:xfrm>
            <a:off x="1353806" y="1811338"/>
            <a:ext cx="5443798"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272525"/>
                </a:solidFill>
                <a:latin typeface="Inter" pitchFamily="34" charset="0"/>
                <a:ea typeface="Inter" pitchFamily="34" charset="-122"/>
                <a:cs typeface="Inter" pitchFamily="34" charset="-120"/>
              </a:rPr>
              <a:t>Buka browser, kunjungi </a:t>
            </a:r>
            <a:pPr algn="l" indent="0" marL="0">
              <a:lnSpc>
                <a:spcPct val="117000"/>
              </a:lnSpc>
              <a:buNone/>
            </a:pPr>
            <a:r>
              <a:rPr lang="en-US" sz="1100" b="1" u="sng" dirty="0">
                <a:solidFill>
                  <a:srgbClr val="007EBD"/>
                </a:solidFill>
                <a:latin typeface="Inter Bold" pitchFamily="34" charset="0"/>
                <a:ea typeface="Inter Bold" pitchFamily="34" charset="-122"/>
                <a:cs typeface="Inter Bold" pitchFamily="34" charset="-120"/>
                <a:hlinkClick r:id="rId4" invalidUrl="" action="" tgtFrame="" tooltip="" history="1" highlightClick="0" endSnd="0">
                  <a:extLst>
                    <a:ext uri="{A12FA001-AC4F-418D-AE19-62706E023703}">
                      <ahyp:hlinkClr xmlns:ahyp="http://schemas.microsoft.com/office/drawing/2018/hyperlinkcolor" val="tx"/>
                    </a:ext>
                  </a:extLst>
                </a:hlinkClick>
              </a:rPr>
              <a:t>gamma.app</a:t>
            </a:r>
            <a:pPr algn="l" indent="0" marL="0">
              <a:lnSpc>
                <a:spcPct val="117000"/>
              </a:lnSpc>
              <a:buNone/>
            </a:pPr>
            <a:r>
              <a:rPr lang="en-US" sz="1100" dirty="0">
                <a:solidFill>
                  <a:srgbClr val="272525"/>
                </a:solidFill>
                <a:latin typeface="Inter" pitchFamily="34" charset="0"/>
                <a:ea typeface="Inter" pitchFamily="34" charset="-122"/>
                <a:cs typeface="Inter" pitchFamily="34" charset="-120"/>
              </a:rPr>
              <a:t>. Pastikan Anda mengakses domain resminya, bukan situs tiruan.</a:t>
            </a:r>
            <a:endParaRPr lang="en-US" sz="110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2475210"/>
            <a:ext cx="6296860" cy="1212949"/>
          </a:xfrm>
          <a:prstGeom prst="rect">
            <a:avLst/>
          </a:prstGeom>
        </p:spPr>
      </p:pic>
      <p:sp>
        <p:nvSpPr>
          <p:cNvPr id="9" name="Text 4"/>
          <p:cNvSpPr/>
          <p:nvPr/>
        </p:nvSpPr>
        <p:spPr>
          <a:xfrm>
            <a:off x="854550" y="2948781"/>
            <a:ext cx="212620" cy="265807"/>
          </a:xfrm>
          <a:prstGeom prst="rect">
            <a:avLst/>
          </a:prstGeom>
          <a:noFill/>
          <a:ln/>
        </p:spPr>
        <p:txBody>
          <a:bodyPr wrap="none" lIns="0" tIns="0" rIns="0" bIns="0" rtlCol="0" anchor="ctr"/>
          <a:lstStyle/>
          <a:p>
            <a:pPr algn="ctr" indent="0" marL="0">
              <a:lnSpc>
                <a:spcPct val="100000"/>
              </a:lnSpc>
              <a:buNone/>
            </a:pPr>
            <a:r>
              <a:rPr lang="en-US" sz="1650" b="1" dirty="0">
                <a:solidFill>
                  <a:srgbClr val="272525"/>
                </a:solidFill>
                <a:latin typeface="Petrona Bold" pitchFamily="34" charset="0"/>
                <a:ea typeface="Petrona Bold" pitchFamily="34" charset="-122"/>
                <a:cs typeface="Petrona Bold" pitchFamily="34" charset="-120"/>
              </a:rPr>
              <a:t>2</a:t>
            </a:r>
            <a:endParaRPr lang="en-US" sz="1650" dirty="0"/>
          </a:p>
        </p:txBody>
      </p:sp>
      <p:sp>
        <p:nvSpPr>
          <p:cNvPr id="10" name="Text 5"/>
          <p:cNvSpPr/>
          <p:nvPr/>
        </p:nvSpPr>
        <p:spPr>
          <a:xfrm>
            <a:off x="1353806" y="2635945"/>
            <a:ext cx="5443798" cy="232470"/>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Petrona Bold" pitchFamily="34" charset="0"/>
                <a:ea typeface="Petrona Bold" pitchFamily="34" charset="-122"/>
                <a:cs typeface="Petrona Bold" pitchFamily="34" charset="-120"/>
              </a:rPr>
              <a:t>Mendaftar akun (Sign Up)</a:t>
            </a:r>
            <a:endParaRPr lang="en-US" sz="1450" dirty="0"/>
          </a:p>
        </p:txBody>
      </p:sp>
      <p:sp>
        <p:nvSpPr>
          <p:cNvPr id="11" name="Text 6"/>
          <p:cNvSpPr/>
          <p:nvPr/>
        </p:nvSpPr>
        <p:spPr>
          <a:xfrm>
            <a:off x="1353806" y="2932112"/>
            <a:ext cx="5443798" cy="595313"/>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272525"/>
                </a:solidFill>
                <a:latin typeface="Inter" pitchFamily="34" charset="0"/>
                <a:ea typeface="Inter" pitchFamily="34" charset="-122"/>
                <a:cs typeface="Inter" pitchFamily="34" charset="-120"/>
              </a:rPr>
              <a:t>Klik tombol "Sign Up" atau "Get Started" di pojok kanan atas. Anda bisa mendaftar lewat akun Google, akun Microsoft, atau email biasa. Menggunakan akun Google biasanya paling cepat karena tanpa perlu membuat kata sandi baru.</a:t>
            </a:r>
            <a:endParaRPr lang="en-US" sz="11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794423"/>
            <a:ext cx="6296860" cy="1212949"/>
          </a:xfrm>
          <a:prstGeom prst="rect">
            <a:avLst/>
          </a:prstGeom>
        </p:spPr>
      </p:pic>
      <p:sp>
        <p:nvSpPr>
          <p:cNvPr id="13" name="Text 7"/>
          <p:cNvSpPr/>
          <p:nvPr/>
        </p:nvSpPr>
        <p:spPr>
          <a:xfrm>
            <a:off x="854550" y="4267994"/>
            <a:ext cx="212620" cy="265807"/>
          </a:xfrm>
          <a:prstGeom prst="rect">
            <a:avLst/>
          </a:prstGeom>
          <a:noFill/>
          <a:ln/>
        </p:spPr>
        <p:txBody>
          <a:bodyPr wrap="none" lIns="0" tIns="0" rIns="0" bIns="0" rtlCol="0" anchor="ctr"/>
          <a:lstStyle/>
          <a:p>
            <a:pPr algn="ctr" indent="0" marL="0">
              <a:lnSpc>
                <a:spcPct val="100000"/>
              </a:lnSpc>
              <a:buNone/>
            </a:pPr>
            <a:r>
              <a:rPr lang="en-US" sz="1650" b="1" dirty="0">
                <a:solidFill>
                  <a:srgbClr val="272525"/>
                </a:solidFill>
                <a:latin typeface="Petrona Bold" pitchFamily="34" charset="0"/>
                <a:ea typeface="Petrona Bold" pitchFamily="34" charset="-122"/>
                <a:cs typeface="Petrona Bold" pitchFamily="34" charset="-120"/>
              </a:rPr>
              <a:t>3</a:t>
            </a:r>
            <a:endParaRPr lang="en-US" sz="1650" dirty="0"/>
          </a:p>
        </p:txBody>
      </p:sp>
      <p:sp>
        <p:nvSpPr>
          <p:cNvPr id="14" name="Text 8"/>
          <p:cNvSpPr/>
          <p:nvPr/>
        </p:nvSpPr>
        <p:spPr>
          <a:xfrm>
            <a:off x="1353806" y="3955157"/>
            <a:ext cx="5443798" cy="232470"/>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Petrona Bold" pitchFamily="34" charset="0"/>
                <a:ea typeface="Petrona Bold" pitchFamily="34" charset="-122"/>
                <a:cs typeface="Petrona Bold" pitchFamily="34" charset="-120"/>
              </a:rPr>
              <a:t>Onboarding</a:t>
            </a:r>
            <a:endParaRPr lang="en-US" sz="1450" dirty="0"/>
          </a:p>
        </p:txBody>
      </p:sp>
      <p:sp>
        <p:nvSpPr>
          <p:cNvPr id="15" name="Text 9"/>
          <p:cNvSpPr/>
          <p:nvPr/>
        </p:nvSpPr>
        <p:spPr>
          <a:xfrm>
            <a:off x="1353806" y="4251325"/>
            <a:ext cx="5443798" cy="595313"/>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272525"/>
                </a:solidFill>
                <a:latin typeface="Inter" pitchFamily="34" charset="0"/>
                <a:ea typeface="Inter" pitchFamily="34" charset="-122"/>
                <a:cs typeface="Inter" pitchFamily="34" charset="-120"/>
              </a:rPr>
              <a:t>Setelah mendaftar, Gamma biasanya menanyakan tujuan penggunaan Anda (pendidikan, pekerjaan, personal, dll). Isi sesuai kebutuhan — ini hanya memengaruhi rekomendasi template awal.</a:t>
            </a:r>
            <a:endParaRPr lang="en-US" sz="11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5113635"/>
            <a:ext cx="6296860" cy="1014512"/>
          </a:xfrm>
          <a:prstGeom prst="rect">
            <a:avLst/>
          </a:prstGeom>
        </p:spPr>
      </p:pic>
      <p:sp>
        <p:nvSpPr>
          <p:cNvPr id="17" name="Text 10"/>
          <p:cNvSpPr/>
          <p:nvPr/>
        </p:nvSpPr>
        <p:spPr>
          <a:xfrm>
            <a:off x="854550" y="5487988"/>
            <a:ext cx="212620" cy="265807"/>
          </a:xfrm>
          <a:prstGeom prst="rect">
            <a:avLst/>
          </a:prstGeom>
          <a:noFill/>
          <a:ln/>
        </p:spPr>
        <p:txBody>
          <a:bodyPr wrap="none" lIns="0" tIns="0" rIns="0" bIns="0" rtlCol="0" anchor="ctr"/>
          <a:lstStyle/>
          <a:p>
            <a:pPr algn="ctr" indent="0" marL="0">
              <a:lnSpc>
                <a:spcPct val="100000"/>
              </a:lnSpc>
              <a:buNone/>
            </a:pPr>
            <a:r>
              <a:rPr lang="en-US" sz="1650" b="1" dirty="0">
                <a:solidFill>
                  <a:srgbClr val="272525"/>
                </a:solidFill>
                <a:latin typeface="Petrona Bold" pitchFamily="34" charset="0"/>
                <a:ea typeface="Petrona Bold" pitchFamily="34" charset="-122"/>
                <a:cs typeface="Petrona Bold" pitchFamily="34" charset="-120"/>
              </a:rPr>
              <a:t>4</a:t>
            </a:r>
            <a:endParaRPr lang="en-US" sz="1650" dirty="0"/>
          </a:p>
        </p:txBody>
      </p:sp>
      <p:sp>
        <p:nvSpPr>
          <p:cNvPr id="18" name="Text 11"/>
          <p:cNvSpPr/>
          <p:nvPr/>
        </p:nvSpPr>
        <p:spPr>
          <a:xfrm>
            <a:off x="1353806" y="5274370"/>
            <a:ext cx="5443798" cy="232470"/>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Petrona Bold" pitchFamily="34" charset="0"/>
                <a:ea typeface="Petrona Bold" pitchFamily="34" charset="-122"/>
                <a:cs typeface="Petrona Bold" pitchFamily="34" charset="-120"/>
              </a:rPr>
              <a:t>Login berikutnya</a:t>
            </a:r>
            <a:endParaRPr lang="en-US" sz="1450" dirty="0"/>
          </a:p>
        </p:txBody>
      </p:sp>
      <p:sp>
        <p:nvSpPr>
          <p:cNvPr id="19" name="Text 12"/>
          <p:cNvSpPr/>
          <p:nvPr/>
        </p:nvSpPr>
        <p:spPr>
          <a:xfrm>
            <a:off x="1353806" y="5570537"/>
            <a:ext cx="5443798" cy="396875"/>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272525"/>
                </a:solidFill>
                <a:latin typeface="Inter" pitchFamily="34" charset="0"/>
                <a:ea typeface="Inter" pitchFamily="34" charset="-122"/>
                <a:cs typeface="Inter" pitchFamily="34" charset="-120"/>
              </a:rPr>
              <a:t>Untuk kunjungan selanjutnya, klik "Log In" dan pilih metode yang sama seperti saat registrasi.</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433612"/>
            <a:ext cx="10868745" cy="620216"/>
          </a:xfrm>
          <a:prstGeom prst="rect">
            <a:avLst/>
          </a:prstGeom>
          <a:noFill/>
          <a:ln/>
        </p:spPr>
        <p:txBody>
          <a:bodyPr wrap="none" lIns="0" tIns="0" rIns="0" bIns="0" rtlCol="0" anchor="t"/>
          <a:lstStyle/>
          <a:p>
            <a:pPr algn="l" indent="0" marL="0">
              <a:lnSpc>
                <a:spcPct val="104000"/>
              </a:lnSpc>
              <a:buNone/>
            </a:pPr>
            <a:r>
              <a:rPr lang="en-US" sz="3900" b="1" dirty="0">
                <a:solidFill>
                  <a:srgbClr val="000000"/>
                </a:solidFill>
                <a:latin typeface="Petrona Bold" pitchFamily="34" charset="0"/>
                <a:ea typeface="Petrona Bold" pitchFamily="34" charset="-122"/>
                <a:cs typeface="Petrona Bold" pitchFamily="34" charset="-120"/>
              </a:rPr>
              <a:t>Mengenal Dashboard</a:t>
            </a:r>
            <a:endParaRPr lang="en-US" sz="3900" dirty="0"/>
          </a:p>
        </p:txBody>
      </p:sp>
      <p:sp>
        <p:nvSpPr>
          <p:cNvPr id="3" name="Text 1"/>
          <p:cNvSpPr/>
          <p:nvPr/>
        </p:nvSpPr>
        <p:spPr>
          <a:xfrm>
            <a:off x="661475" y="2431852"/>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Setelah login, Anda mendarat di dashboard yang berisi:</a:t>
            </a:r>
            <a:endParaRPr lang="en-US" sz="1450" dirty="0"/>
          </a:p>
        </p:txBody>
      </p:sp>
      <p:sp>
        <p:nvSpPr>
          <p:cNvPr id="4" name="Shape 2"/>
          <p:cNvSpPr/>
          <p:nvPr/>
        </p:nvSpPr>
        <p:spPr>
          <a:xfrm>
            <a:off x="661475" y="2946896"/>
            <a:ext cx="3496877" cy="2477492"/>
          </a:xfrm>
          <a:prstGeom prst="roundRect">
            <a:avLst>
              <a:gd name="adj" fmla="val 3204"/>
            </a:avLst>
          </a:prstGeom>
          <a:solidFill>
            <a:srgbClr val="CCEEFF"/>
          </a:solidFill>
          <a:ln w="6350">
            <a:solidFill>
              <a:srgbClr val="B2D4E5"/>
            </a:solidFill>
            <a:prstDash val="solid"/>
          </a:ln>
        </p:spPr>
      </p:sp>
      <p:sp>
        <p:nvSpPr>
          <p:cNvPr id="5" name="Shape 3"/>
          <p:cNvSpPr/>
          <p:nvPr/>
        </p:nvSpPr>
        <p:spPr>
          <a:xfrm>
            <a:off x="856832" y="3142258"/>
            <a:ext cx="567021" cy="567035"/>
          </a:xfrm>
          <a:prstGeom prst="ellipse">
            <a:avLst/>
          </a:prstGeom>
          <a:solidFill>
            <a:srgbClr val="007EB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2800" y="3298130"/>
            <a:ext cx="255085" cy="255091"/>
          </a:xfrm>
          <a:prstGeom prst="rect">
            <a:avLst/>
          </a:prstGeom>
        </p:spPr>
      </p:pic>
      <p:sp>
        <p:nvSpPr>
          <p:cNvPr id="7" name="Text 4"/>
          <p:cNvSpPr/>
          <p:nvPr/>
        </p:nvSpPr>
        <p:spPr>
          <a:xfrm>
            <a:off x="856832" y="3898305"/>
            <a:ext cx="3106164" cy="310059"/>
          </a:xfrm>
          <a:prstGeom prst="rect">
            <a:avLst/>
          </a:prstGeom>
          <a:noFill/>
          <a:ln/>
        </p:spPr>
        <p:txBody>
          <a:bodyPr wrap="none" lIns="0" tIns="0" rIns="0" bIns="0" rtlCol="0" anchor="t"/>
          <a:lstStyle/>
          <a:p>
            <a:pPr algn="l" indent="0" marL="0">
              <a:lnSpc>
                <a:spcPct val="104000"/>
              </a:lnSpc>
              <a:buNone/>
            </a:pPr>
            <a:r>
              <a:rPr lang="en-US" sz="1950" b="1" dirty="0">
                <a:solidFill>
                  <a:srgbClr val="272525"/>
                </a:solidFill>
                <a:latin typeface="Petrona Bold" pitchFamily="34" charset="0"/>
                <a:ea typeface="Petrona Bold" pitchFamily="34" charset="-122"/>
                <a:cs typeface="Petrona Bold" pitchFamily="34" charset="-120"/>
              </a:rPr>
              <a:t>Create New AI</a:t>
            </a:r>
            <a:endParaRPr lang="en-US" sz="1950" dirty="0"/>
          </a:p>
        </p:txBody>
      </p:sp>
      <p:sp>
        <p:nvSpPr>
          <p:cNvPr id="8" name="Text 5"/>
          <p:cNvSpPr/>
          <p:nvPr/>
        </p:nvSpPr>
        <p:spPr>
          <a:xfrm>
            <a:off x="856832" y="4321770"/>
            <a:ext cx="3106164"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Tombol besar </a:t>
            </a:r>
            <a:pPr algn="l" indent="0" marL="0">
              <a:lnSpc>
                <a:spcPct val="133000"/>
              </a:lnSpc>
              <a:buNone/>
            </a:pPr>
            <a:r>
              <a:rPr lang="en-US" sz="1450" b="1" dirty="0">
                <a:solidFill>
                  <a:srgbClr val="272525"/>
                </a:solidFill>
                <a:latin typeface="Inter Bold" pitchFamily="34" charset="0"/>
                <a:ea typeface="Inter Bold" pitchFamily="34" charset="-122"/>
                <a:cs typeface="Inter Bold" pitchFamily="34" charset="-120"/>
              </a:rPr>
              <a:t>"Create New AI"</a:t>
            </a:r>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 — pintu masuk utama membuat presentasi baru</a:t>
            </a:r>
            <a:endParaRPr lang="en-US" sz="1450" dirty="0"/>
          </a:p>
        </p:txBody>
      </p:sp>
      <p:sp>
        <p:nvSpPr>
          <p:cNvPr id="9" name="Shape 6"/>
          <p:cNvSpPr/>
          <p:nvPr/>
        </p:nvSpPr>
        <p:spPr>
          <a:xfrm>
            <a:off x="4347359" y="2946896"/>
            <a:ext cx="3496877" cy="2477492"/>
          </a:xfrm>
          <a:prstGeom prst="roundRect">
            <a:avLst>
              <a:gd name="adj" fmla="val 3204"/>
            </a:avLst>
          </a:prstGeom>
          <a:solidFill>
            <a:srgbClr val="CCEEFF"/>
          </a:solidFill>
          <a:ln w="6350">
            <a:solidFill>
              <a:srgbClr val="B2D4E5"/>
            </a:solidFill>
            <a:prstDash val="solid"/>
          </a:ln>
        </p:spPr>
      </p:sp>
      <p:sp>
        <p:nvSpPr>
          <p:cNvPr id="10" name="Shape 7"/>
          <p:cNvSpPr/>
          <p:nvPr/>
        </p:nvSpPr>
        <p:spPr>
          <a:xfrm>
            <a:off x="4542716" y="3142258"/>
            <a:ext cx="567021" cy="567035"/>
          </a:xfrm>
          <a:prstGeom prst="ellipse">
            <a:avLst/>
          </a:prstGeom>
          <a:solidFill>
            <a:srgbClr val="007EBD"/>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8684" y="3298130"/>
            <a:ext cx="255085" cy="255091"/>
          </a:xfrm>
          <a:prstGeom prst="rect">
            <a:avLst/>
          </a:prstGeom>
        </p:spPr>
      </p:pic>
      <p:sp>
        <p:nvSpPr>
          <p:cNvPr id="12" name="Text 8"/>
          <p:cNvSpPr/>
          <p:nvPr/>
        </p:nvSpPr>
        <p:spPr>
          <a:xfrm>
            <a:off x="4542716" y="3898305"/>
            <a:ext cx="3106164" cy="310059"/>
          </a:xfrm>
          <a:prstGeom prst="rect">
            <a:avLst/>
          </a:prstGeom>
          <a:noFill/>
          <a:ln/>
        </p:spPr>
        <p:txBody>
          <a:bodyPr wrap="none" lIns="0" tIns="0" rIns="0" bIns="0" rtlCol="0" anchor="t"/>
          <a:lstStyle/>
          <a:p>
            <a:pPr algn="l" indent="0" marL="0">
              <a:lnSpc>
                <a:spcPct val="104000"/>
              </a:lnSpc>
              <a:buNone/>
            </a:pPr>
            <a:r>
              <a:rPr lang="en-US" sz="1950" b="1" dirty="0">
                <a:solidFill>
                  <a:srgbClr val="272525"/>
                </a:solidFill>
                <a:latin typeface="Petrona Bold" pitchFamily="34" charset="0"/>
                <a:ea typeface="Petrona Bold" pitchFamily="34" charset="-122"/>
                <a:cs typeface="Petrona Bold" pitchFamily="34" charset="-120"/>
              </a:rPr>
              <a:t>Riwayat Presentasi</a:t>
            </a:r>
            <a:endParaRPr lang="en-US" sz="1950" dirty="0"/>
          </a:p>
        </p:txBody>
      </p:sp>
      <p:sp>
        <p:nvSpPr>
          <p:cNvPr id="13" name="Text 9"/>
          <p:cNvSpPr/>
          <p:nvPr/>
        </p:nvSpPr>
        <p:spPr>
          <a:xfrm>
            <a:off x="4542716" y="4321770"/>
            <a:ext cx="3106164"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Riwayat presentasi yang pernah dibuat, dalam bentuk kartu thumbnail</a:t>
            </a:r>
            <a:endParaRPr lang="en-US" sz="1450" dirty="0"/>
          </a:p>
        </p:txBody>
      </p:sp>
      <p:sp>
        <p:nvSpPr>
          <p:cNvPr id="14" name="Shape 10"/>
          <p:cNvSpPr/>
          <p:nvPr/>
        </p:nvSpPr>
        <p:spPr>
          <a:xfrm>
            <a:off x="8033244" y="2946896"/>
            <a:ext cx="3496877" cy="2477492"/>
          </a:xfrm>
          <a:prstGeom prst="roundRect">
            <a:avLst>
              <a:gd name="adj" fmla="val 3204"/>
            </a:avLst>
          </a:prstGeom>
          <a:solidFill>
            <a:srgbClr val="CCEEFF"/>
          </a:solidFill>
          <a:ln w="6350">
            <a:solidFill>
              <a:srgbClr val="B2D4E5"/>
            </a:solidFill>
            <a:prstDash val="solid"/>
          </a:ln>
        </p:spPr>
      </p:sp>
      <p:sp>
        <p:nvSpPr>
          <p:cNvPr id="15" name="Shape 11"/>
          <p:cNvSpPr/>
          <p:nvPr/>
        </p:nvSpPr>
        <p:spPr>
          <a:xfrm>
            <a:off x="8228600" y="3142258"/>
            <a:ext cx="567021" cy="567035"/>
          </a:xfrm>
          <a:prstGeom prst="ellipse">
            <a:avLst/>
          </a:prstGeom>
          <a:solidFill>
            <a:srgbClr val="007EBD"/>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4568" y="3298130"/>
            <a:ext cx="255085" cy="255091"/>
          </a:xfrm>
          <a:prstGeom prst="rect">
            <a:avLst/>
          </a:prstGeom>
        </p:spPr>
      </p:pic>
      <p:sp>
        <p:nvSpPr>
          <p:cNvPr id="17" name="Text 12"/>
          <p:cNvSpPr/>
          <p:nvPr/>
        </p:nvSpPr>
        <p:spPr>
          <a:xfrm>
            <a:off x="8228600" y="3898305"/>
            <a:ext cx="3106164" cy="310059"/>
          </a:xfrm>
          <a:prstGeom prst="rect">
            <a:avLst/>
          </a:prstGeom>
          <a:noFill/>
          <a:ln/>
        </p:spPr>
        <p:txBody>
          <a:bodyPr wrap="none" lIns="0" tIns="0" rIns="0" bIns="0" rtlCol="0" anchor="t"/>
          <a:lstStyle/>
          <a:p>
            <a:pPr algn="l" indent="0" marL="0">
              <a:lnSpc>
                <a:spcPct val="104000"/>
              </a:lnSpc>
              <a:buNone/>
            </a:pPr>
            <a:r>
              <a:rPr lang="en-US" sz="1950" b="1" dirty="0">
                <a:solidFill>
                  <a:srgbClr val="272525"/>
                </a:solidFill>
                <a:latin typeface="Petrona Bold" pitchFamily="34" charset="0"/>
                <a:ea typeface="Petrona Bold" pitchFamily="34" charset="-122"/>
                <a:cs typeface="Petrona Bold" pitchFamily="34" charset="-120"/>
              </a:rPr>
              <a:t>Pengaturan Akun</a:t>
            </a:r>
            <a:endParaRPr lang="en-US" sz="1950" dirty="0"/>
          </a:p>
        </p:txBody>
      </p:sp>
      <p:sp>
        <p:nvSpPr>
          <p:cNvPr id="18" name="Text 13"/>
          <p:cNvSpPr/>
          <p:nvPr/>
        </p:nvSpPr>
        <p:spPr>
          <a:xfrm>
            <a:off x="8228600" y="4321770"/>
            <a:ext cx="3106164"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Menu pengaturan akun, workspace, dan paket berlangganan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13866"/>
            <a:ext cx="6296860" cy="992386"/>
          </a:xfrm>
          <a:prstGeom prst="rect">
            <a:avLst/>
          </a:prstGeom>
          <a:noFill/>
          <a:ln/>
        </p:spPr>
        <p:txBody>
          <a:bodyPr wrap="square" lIns="0" tIns="0" rIns="0" bIns="0" rtlCol="0" anchor="t">
            <a:normAutofit/>
          </a:bodyPr>
          <a:lstStyle/>
          <a:p>
            <a:pPr algn="l" indent="0" marL="0">
              <a:lnSpc>
                <a:spcPct val="104000"/>
              </a:lnSpc>
              <a:buNone/>
            </a:pPr>
            <a:r>
              <a:rPr lang="en-US" sz="3100" b="1" dirty="0">
                <a:solidFill>
                  <a:srgbClr val="000000"/>
                </a:solidFill>
                <a:latin typeface="Petrona Bold" pitchFamily="34" charset="0"/>
                <a:ea typeface="Petrona Bold" pitchFamily="34" charset="-122"/>
                <a:cs typeface="Petrona Bold" pitchFamily="34" charset="-120"/>
              </a:rPr>
              <a:t>Memulai Presentasi Baru — Tiga Mode</a:t>
            </a:r>
            <a:endParaRPr lang="en-US" sz="3100" dirty="0"/>
          </a:p>
        </p:txBody>
      </p:sp>
      <p:sp>
        <p:nvSpPr>
          <p:cNvPr id="4" name="Text 1"/>
          <p:cNvSpPr/>
          <p:nvPr/>
        </p:nvSpPr>
        <p:spPr>
          <a:xfrm>
            <a:off x="5233360" y="1787624"/>
            <a:ext cx="6906444" cy="217686"/>
          </a:xfrm>
          <a:prstGeom prst="rect">
            <a:avLst/>
          </a:prstGeom>
          <a:noFill/>
          <a:ln/>
        </p:spPr>
        <p:txBody>
          <a:bodyPr wrap="none" lIns="0" tIns="0" rIns="0" bIns="0" rtlCol="0" anchor="t"/>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Klik </a:t>
            </a:r>
            <a:pPr algn="l" indent="0" marL="0">
              <a:lnSpc>
                <a:spcPct val="120000"/>
              </a:lnSpc>
              <a:buNone/>
            </a:pPr>
            <a:r>
              <a:rPr lang="en-US" sz="1150" b="1" dirty="0">
                <a:solidFill>
                  <a:srgbClr val="272525"/>
                </a:solidFill>
                <a:latin typeface="Inter Bold" pitchFamily="34" charset="0"/>
                <a:ea typeface="Inter Bold" pitchFamily="34" charset="-122"/>
                <a:cs typeface="Inter Bold" pitchFamily="34" charset="-120"/>
              </a:rPr>
              <a:t>"Create New AI"</a:t>
            </a:r>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 lalu Anda akan diberi tiga pilihan mode:</a:t>
            </a:r>
            <a:endParaRPr lang="en-US" sz="11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141339"/>
            <a:ext cx="6296860" cy="1096466"/>
          </a:xfrm>
          <a:prstGeom prst="rect">
            <a:avLst/>
          </a:prstGeom>
        </p:spPr>
      </p:pic>
      <p:sp>
        <p:nvSpPr>
          <p:cNvPr id="6" name="Text 2"/>
          <p:cNvSpPr/>
          <p:nvPr/>
        </p:nvSpPr>
        <p:spPr>
          <a:xfrm>
            <a:off x="5479814" y="2311598"/>
            <a:ext cx="5880151" cy="248047"/>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Mode Generate</a:t>
            </a:r>
            <a:endParaRPr lang="en-US" sz="1550" dirty="0"/>
          </a:p>
        </p:txBody>
      </p:sp>
      <p:sp>
        <p:nvSpPr>
          <p:cNvPr id="7" name="Text 3"/>
          <p:cNvSpPr/>
          <p:nvPr/>
        </p:nvSpPr>
        <p:spPr>
          <a:xfrm>
            <a:off x="5479814" y="2632174"/>
            <a:ext cx="5880151"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Anda memasukkan sebuah topik, dan AI menyusun draf terstruktur dari nol. Cocok jika belum punya materi apa pun.</a:t>
            </a:r>
            <a:endParaRPr lang="en-US" sz="11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358753"/>
            <a:ext cx="6296860" cy="1096466"/>
          </a:xfrm>
          <a:prstGeom prst="rect">
            <a:avLst/>
          </a:prstGeom>
        </p:spPr>
      </p:pic>
      <p:sp>
        <p:nvSpPr>
          <p:cNvPr id="9" name="Text 4"/>
          <p:cNvSpPr/>
          <p:nvPr/>
        </p:nvSpPr>
        <p:spPr>
          <a:xfrm>
            <a:off x="5479814" y="3529013"/>
            <a:ext cx="5880151" cy="248047"/>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Mode Paste</a:t>
            </a:r>
            <a:endParaRPr lang="en-US" sz="1550" dirty="0"/>
          </a:p>
        </p:txBody>
      </p:sp>
      <p:sp>
        <p:nvSpPr>
          <p:cNvPr id="10" name="Text 5"/>
          <p:cNvSpPr/>
          <p:nvPr/>
        </p:nvSpPr>
        <p:spPr>
          <a:xfrm>
            <a:off x="5479814" y="3849588"/>
            <a:ext cx="5880151"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Anda menempelkan teks yang sudah ada (catatan, hasil riset, dokumen lama), lalu Gamma memformatnya menjadi tata letak rapi.</a:t>
            </a:r>
            <a:endParaRPr lang="en-US" sz="11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576167"/>
            <a:ext cx="6296860" cy="1096466"/>
          </a:xfrm>
          <a:prstGeom prst="rect">
            <a:avLst/>
          </a:prstGeom>
        </p:spPr>
      </p:pic>
      <p:sp>
        <p:nvSpPr>
          <p:cNvPr id="12" name="Text 6"/>
          <p:cNvSpPr/>
          <p:nvPr/>
        </p:nvSpPr>
        <p:spPr>
          <a:xfrm>
            <a:off x="5479814" y="4746427"/>
            <a:ext cx="5880151" cy="248047"/>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Mode Import</a:t>
            </a:r>
            <a:endParaRPr lang="en-US" sz="1550" dirty="0"/>
          </a:p>
        </p:txBody>
      </p:sp>
      <p:sp>
        <p:nvSpPr>
          <p:cNvPr id="13" name="Text 7"/>
          <p:cNvSpPr/>
          <p:nvPr/>
        </p:nvSpPr>
        <p:spPr>
          <a:xfrm>
            <a:off x="5479814" y="5067002"/>
            <a:ext cx="5880151"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Anda mengunggah file PowerPoint/dokumen, atau memasukkan URL, dan Gamma mengonversinya menjadi presentasi terstruktur secara otomatis.</a:t>
            </a:r>
            <a:endParaRPr lang="en-US" sz="1150" dirty="0"/>
          </a:p>
        </p:txBody>
      </p:sp>
      <p:sp>
        <p:nvSpPr>
          <p:cNvPr id="14" name="Text 8"/>
          <p:cNvSpPr/>
          <p:nvPr/>
        </p:nvSpPr>
        <p:spPr>
          <a:xfrm>
            <a:off x="5233360" y="5808663"/>
            <a:ext cx="6296860"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Tutorial ini akan fokus pada alur </a:t>
            </a:r>
            <a:pPr algn="l" indent="0" marL="0">
              <a:lnSpc>
                <a:spcPct val="120000"/>
              </a:lnSpc>
              <a:buNone/>
            </a:pPr>
            <a:r>
              <a:rPr lang="en-US" sz="1150" b="1" dirty="0">
                <a:solidFill>
                  <a:srgbClr val="272525"/>
                </a:solidFill>
                <a:latin typeface="Inter Bold" pitchFamily="34" charset="0"/>
                <a:ea typeface="Inter Bold" pitchFamily="34" charset="-122"/>
                <a:cs typeface="Inter Bold" pitchFamily="34" charset="-120"/>
              </a:rPr>
              <a:t>Generate</a:t>
            </a:r>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 karena paling sering dipakai untuk membuat presentasi baru dari nol.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404541"/>
            <a:ext cx="10868745" cy="620216"/>
          </a:xfrm>
          <a:prstGeom prst="rect">
            <a:avLst/>
          </a:prstGeom>
          <a:noFill/>
          <a:ln/>
        </p:spPr>
        <p:txBody>
          <a:bodyPr wrap="none" lIns="0" tIns="0" rIns="0" bIns="0" rtlCol="0" anchor="t"/>
          <a:lstStyle/>
          <a:p>
            <a:pPr algn="l" indent="0" marL="0">
              <a:lnSpc>
                <a:spcPct val="104000"/>
              </a:lnSpc>
              <a:buNone/>
            </a:pPr>
            <a:r>
              <a:rPr lang="en-US" sz="3900" b="1" dirty="0">
                <a:solidFill>
                  <a:srgbClr val="000000"/>
                </a:solidFill>
                <a:latin typeface="Petrona Bold" pitchFamily="34" charset="0"/>
                <a:ea typeface="Petrona Bold" pitchFamily="34" charset="-122"/>
                <a:cs typeface="Petrona Bold" pitchFamily="34" charset="-120"/>
              </a:rPr>
              <a:t>Menulis Prompt yang Efektif</a:t>
            </a:r>
            <a:endParaRPr lang="en-US" sz="3900" dirty="0"/>
          </a:p>
        </p:txBody>
      </p:sp>
      <p:sp>
        <p:nvSpPr>
          <p:cNvPr id="3" name="Shape 1"/>
          <p:cNvSpPr/>
          <p:nvPr/>
        </p:nvSpPr>
        <p:spPr>
          <a:xfrm>
            <a:off x="525350" y="2308225"/>
            <a:ext cx="5476043" cy="3145135"/>
          </a:xfrm>
          <a:prstGeom prst="roundRect">
            <a:avLst>
              <a:gd name="adj" fmla="val 4327"/>
            </a:avLst>
          </a:prstGeom>
          <a:solidFill>
            <a:srgbClr val="007EBD">
              <a:alpha val="95000"/>
            </a:srgbClr>
          </a:solidFill>
          <a:ln/>
        </p:spPr>
      </p:sp>
      <p:sp>
        <p:nvSpPr>
          <p:cNvPr id="4" name="Text 2"/>
          <p:cNvSpPr/>
          <p:nvPr/>
        </p:nvSpPr>
        <p:spPr>
          <a:xfrm>
            <a:off x="714357" y="2497237"/>
            <a:ext cx="5098029" cy="310059"/>
          </a:xfrm>
          <a:prstGeom prst="rect">
            <a:avLst/>
          </a:prstGeom>
          <a:noFill/>
          <a:ln/>
        </p:spPr>
        <p:txBody>
          <a:bodyPr wrap="none" lIns="0" tIns="0" rIns="0" bIns="0" rtlCol="0" anchor="t"/>
          <a:lstStyle/>
          <a:p>
            <a:pPr algn="l" indent="0" marL="0">
              <a:lnSpc>
                <a:spcPct val="104000"/>
              </a:lnSpc>
              <a:buNone/>
            </a:pPr>
            <a:r>
              <a:rPr lang="en-US" sz="1950" b="1" dirty="0">
                <a:solidFill>
                  <a:srgbClr val="000000"/>
                </a:solidFill>
                <a:latin typeface="Petrona Bold" pitchFamily="34" charset="0"/>
                <a:ea typeface="Petrona Bold" pitchFamily="34" charset="-122"/>
                <a:cs typeface="Petrona Bold" pitchFamily="34" charset="-120"/>
              </a:rPr>
              <a:t>Contoh Masukan yang Baik</a:t>
            </a:r>
            <a:endParaRPr lang="en-US" sz="1950" dirty="0"/>
          </a:p>
        </p:txBody>
      </p:sp>
      <p:sp>
        <p:nvSpPr>
          <p:cNvPr id="5" name="Text 3"/>
          <p:cNvSpPr/>
          <p:nvPr/>
        </p:nvSpPr>
        <p:spPr>
          <a:xfrm>
            <a:off x="714357" y="2996307"/>
            <a:ext cx="50980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Inter" pitchFamily="34" charset="0"/>
                <a:ea typeface="Inter" pitchFamily="34" charset="-122"/>
                <a:cs typeface="Inter" pitchFamily="34" charset="-120"/>
              </a:rPr>
              <a:t>Jelaskan topik sejelas dan sedetail mungkin. Contoh masukan yang baik menurut panduan resmi: bukan sekadar "Strategi Pemasaran", melainkan "Presentasi tentang Strategi Pemasaran Digital untuk UMKM dengan fokus pada SEO, Media Sosial, dan Email Marketing".</a:t>
            </a:r>
            <a:endParaRPr lang="en-US" sz="1450" dirty="0"/>
          </a:p>
        </p:txBody>
      </p:sp>
      <p:sp>
        <p:nvSpPr>
          <p:cNvPr id="6" name="Text 4"/>
          <p:cNvSpPr/>
          <p:nvPr/>
        </p:nvSpPr>
        <p:spPr>
          <a:xfrm>
            <a:off x="6332776" y="2497237"/>
            <a:ext cx="5203794" cy="310059"/>
          </a:xfrm>
          <a:prstGeom prst="rect">
            <a:avLst/>
          </a:prstGeom>
          <a:noFill/>
          <a:ln/>
        </p:spPr>
        <p:txBody>
          <a:bodyPr wrap="none" lIns="0" tIns="0" rIns="0" bIns="0" rtlCol="0" anchor="t"/>
          <a:lstStyle/>
          <a:p>
            <a:pPr algn="l" indent="0" marL="0">
              <a:lnSpc>
                <a:spcPct val="104000"/>
              </a:lnSpc>
              <a:buNone/>
            </a:pPr>
            <a:r>
              <a:rPr lang="en-US" sz="1950" b="1" dirty="0">
                <a:solidFill>
                  <a:srgbClr val="000000"/>
                </a:solidFill>
                <a:latin typeface="Petrona Bold" pitchFamily="34" charset="0"/>
                <a:ea typeface="Petrona Bold" pitchFamily="34" charset="-122"/>
                <a:cs typeface="Petrona Bold" pitchFamily="34" charset="-120"/>
              </a:rPr>
              <a:t>Strategi Terbaik Sebelum Generate</a:t>
            </a:r>
            <a:endParaRPr lang="en-US" sz="1950" dirty="0"/>
          </a:p>
        </p:txBody>
      </p:sp>
      <p:sp>
        <p:nvSpPr>
          <p:cNvPr id="7" name="Text 5"/>
          <p:cNvSpPr/>
          <p:nvPr/>
        </p:nvSpPr>
        <p:spPr>
          <a:xfrm>
            <a:off x="6332776" y="2996307"/>
            <a:ext cx="5203794" cy="2286992"/>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Tentukan dulu </a:t>
            </a:r>
            <a:pPr algn="l" indent="0" marL="0">
              <a:lnSpc>
                <a:spcPct val="133000"/>
              </a:lnSpc>
              <a:buNone/>
            </a:pPr>
            <a:r>
              <a:rPr lang="en-US" sz="1450" b="1" dirty="0">
                <a:solidFill>
                  <a:srgbClr val="272525"/>
                </a:solidFill>
                <a:latin typeface="Inter Bold" pitchFamily="34" charset="0"/>
                <a:ea typeface="Inter Bold" pitchFamily="34" charset="-122"/>
                <a:cs typeface="Inter Bold" pitchFamily="34" charset="-120"/>
              </a:rPr>
              <a:t>tujuan</a:t>
            </a:r>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 presentasi, </a:t>
            </a:r>
            <a:pPr algn="l" indent="0" marL="0">
              <a:lnSpc>
                <a:spcPct val="133000"/>
              </a:lnSpc>
              <a:buNone/>
            </a:pPr>
            <a:r>
              <a:rPr lang="en-US" sz="1450" b="1" dirty="0">
                <a:solidFill>
                  <a:srgbClr val="272525"/>
                </a:solidFill>
                <a:latin typeface="Inter Bold" pitchFamily="34" charset="0"/>
                <a:ea typeface="Inter Bold" pitchFamily="34" charset="-122"/>
                <a:cs typeface="Inter Bold" pitchFamily="34" charset="-120"/>
              </a:rPr>
              <a:t>audiens</a:t>
            </a:r>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 yang dituju, dan </a:t>
            </a:r>
            <a:pPr algn="l" indent="0" marL="0">
              <a:lnSpc>
                <a:spcPct val="133000"/>
              </a:lnSpc>
              <a:buNone/>
            </a:pPr>
            <a:r>
              <a:rPr lang="en-US" sz="1450" b="1" dirty="0">
                <a:solidFill>
                  <a:srgbClr val="272525"/>
                </a:solidFill>
                <a:latin typeface="Inter Bold" pitchFamily="34" charset="0"/>
                <a:ea typeface="Inter Bold" pitchFamily="34" charset="-122"/>
                <a:cs typeface="Inter Bold" pitchFamily="34" charset="-120"/>
              </a:rPr>
              <a:t>outline</a:t>
            </a:r>
            <a:pPr algn="l" indent="0" marL="0">
              <a:lnSpc>
                <a:spcPct val="133000"/>
              </a:lnSpc>
              <a:spcAft>
                <a:spcPts val="1300"/>
              </a:spcAft>
              <a:buNone/>
            </a:pPr>
            <a:r>
              <a:rPr lang="en-US" sz="1450" dirty="0">
                <a:solidFill>
                  <a:srgbClr val="272525"/>
                </a:solidFill>
                <a:latin typeface="Inter" pitchFamily="34" charset="0"/>
                <a:ea typeface="Inter" pitchFamily="34" charset="-122"/>
                <a:cs typeface="Inter" pitchFamily="34" charset="-120"/>
              </a:rPr>
              <a:t> kasar poin-poin yang ingin dibahas — baru kemudian tulis prompt dan generate.</a:t>
            </a:r>
            <a:endParaRPr lang="en-US" sz="1450" dirty="0"/>
          </a:p>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Setelah menulis prompt, akan muncul opsi </a:t>
            </a:r>
            <a:pPr algn="l" indent="0" marL="0">
              <a:lnSpc>
                <a:spcPct val="133000"/>
              </a:lnSpc>
              <a:buNone/>
            </a:pPr>
            <a:r>
              <a:rPr lang="en-US" sz="1450" b="1" dirty="0">
                <a:solidFill>
                  <a:srgbClr val="272525"/>
                </a:solidFill>
                <a:latin typeface="Inter Bold" pitchFamily="34" charset="0"/>
                <a:ea typeface="Inter Bold" pitchFamily="34" charset="-122"/>
                <a:cs typeface="Inter Bold" pitchFamily="34" charset="-120"/>
              </a:rPr>
              <a:t>"Advanced Mode"</a:t>
            </a:r>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 untuk menyempurnakan draf lebih lanjut, misalnya mengatur jumlah slide, bahasa, dan nada penulisan (formal/santai).</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402854"/>
            <a:ext cx="10868745" cy="620216"/>
          </a:xfrm>
          <a:prstGeom prst="rect">
            <a:avLst/>
          </a:prstGeom>
          <a:noFill/>
          <a:ln/>
        </p:spPr>
        <p:txBody>
          <a:bodyPr wrap="none" lIns="0" tIns="0" rIns="0" bIns="0" rtlCol="0" anchor="t"/>
          <a:lstStyle/>
          <a:p>
            <a:pPr algn="l" indent="0" marL="0">
              <a:lnSpc>
                <a:spcPct val="104000"/>
              </a:lnSpc>
              <a:buNone/>
            </a:pPr>
            <a:r>
              <a:rPr lang="en-US" sz="3900" b="1" dirty="0">
                <a:solidFill>
                  <a:srgbClr val="000000"/>
                </a:solidFill>
                <a:latin typeface="Petrona Bold" pitchFamily="34" charset="0"/>
                <a:ea typeface="Petrona Bold" pitchFamily="34" charset="-122"/>
                <a:cs typeface="Petrona Bold" pitchFamily="34" charset="-120"/>
              </a:rPr>
              <a:t>Mengatur Gaya Visual Sebelum Generate</a:t>
            </a:r>
            <a:endParaRPr lang="en-US" sz="3900" dirty="0"/>
          </a:p>
        </p:txBody>
      </p:sp>
      <p:sp>
        <p:nvSpPr>
          <p:cNvPr id="3" name="Text 1"/>
          <p:cNvSpPr/>
          <p:nvPr/>
        </p:nvSpPr>
        <p:spPr>
          <a:xfrm>
            <a:off x="661475" y="2401094"/>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Sebelum menekan tombol generate final, Anda bisa memilih:</a:t>
            </a:r>
            <a:endParaRPr lang="en-US" sz="1450" dirty="0"/>
          </a:p>
        </p:txBody>
      </p:sp>
      <p:sp>
        <p:nvSpPr>
          <p:cNvPr id="4" name="Shape 2"/>
          <p:cNvSpPr/>
          <p:nvPr/>
        </p:nvSpPr>
        <p:spPr>
          <a:xfrm>
            <a:off x="661475" y="2916138"/>
            <a:ext cx="3496877" cy="1721445"/>
          </a:xfrm>
          <a:prstGeom prst="roundRect">
            <a:avLst>
              <a:gd name="adj" fmla="val 4612"/>
            </a:avLst>
          </a:prstGeom>
          <a:solidFill>
            <a:srgbClr val="CCEEFF"/>
          </a:solidFill>
          <a:ln w="6350">
            <a:solidFill>
              <a:srgbClr val="B2D4E5"/>
            </a:solidFill>
            <a:prstDash val="solid"/>
          </a:ln>
        </p:spPr>
      </p:sp>
      <p:sp>
        <p:nvSpPr>
          <p:cNvPr id="5" name="Text 3"/>
          <p:cNvSpPr/>
          <p:nvPr/>
        </p:nvSpPr>
        <p:spPr>
          <a:xfrm>
            <a:off x="856832" y="3111500"/>
            <a:ext cx="3106164" cy="310059"/>
          </a:xfrm>
          <a:prstGeom prst="rect">
            <a:avLst/>
          </a:prstGeom>
          <a:noFill/>
          <a:ln/>
        </p:spPr>
        <p:txBody>
          <a:bodyPr wrap="none" lIns="0" tIns="0" rIns="0" bIns="0" rtlCol="0" anchor="t"/>
          <a:lstStyle/>
          <a:p>
            <a:pPr algn="l" indent="0" marL="0">
              <a:lnSpc>
                <a:spcPct val="104000"/>
              </a:lnSpc>
              <a:buNone/>
            </a:pPr>
            <a:r>
              <a:rPr lang="en-US" sz="1950" b="1" dirty="0">
                <a:solidFill>
                  <a:srgbClr val="272525"/>
                </a:solidFill>
                <a:latin typeface="Petrona Bold" pitchFamily="34" charset="0"/>
                <a:ea typeface="Petrona Bold" pitchFamily="34" charset="-122"/>
                <a:cs typeface="Petrona Bold" pitchFamily="34" charset="-120"/>
              </a:rPr>
              <a:t>Don't Add Images</a:t>
            </a:r>
            <a:endParaRPr lang="en-US" sz="1950" dirty="0"/>
          </a:p>
        </p:txBody>
      </p:sp>
      <p:sp>
        <p:nvSpPr>
          <p:cNvPr id="6" name="Text 4"/>
          <p:cNvSpPr/>
          <p:nvPr/>
        </p:nvSpPr>
        <p:spPr>
          <a:xfrm>
            <a:off x="856832" y="3534966"/>
            <a:ext cx="31061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Menghasilkan slide bersih tanpa gambar, fokus pada teks</a:t>
            </a:r>
            <a:endParaRPr lang="en-US" sz="1450" dirty="0"/>
          </a:p>
        </p:txBody>
      </p:sp>
      <p:sp>
        <p:nvSpPr>
          <p:cNvPr id="7" name="Shape 5"/>
          <p:cNvSpPr/>
          <p:nvPr/>
        </p:nvSpPr>
        <p:spPr>
          <a:xfrm>
            <a:off x="4347359" y="2916138"/>
            <a:ext cx="3496877" cy="1721445"/>
          </a:xfrm>
          <a:prstGeom prst="roundRect">
            <a:avLst>
              <a:gd name="adj" fmla="val 4612"/>
            </a:avLst>
          </a:prstGeom>
          <a:solidFill>
            <a:srgbClr val="CCEEFF"/>
          </a:solidFill>
          <a:ln w="6350">
            <a:solidFill>
              <a:srgbClr val="B2D4E5"/>
            </a:solidFill>
            <a:prstDash val="solid"/>
          </a:ln>
        </p:spPr>
      </p:sp>
      <p:sp>
        <p:nvSpPr>
          <p:cNvPr id="8" name="Text 6"/>
          <p:cNvSpPr/>
          <p:nvPr/>
        </p:nvSpPr>
        <p:spPr>
          <a:xfrm>
            <a:off x="4542716" y="3111500"/>
            <a:ext cx="3106164" cy="310059"/>
          </a:xfrm>
          <a:prstGeom prst="rect">
            <a:avLst/>
          </a:prstGeom>
          <a:noFill/>
          <a:ln/>
        </p:spPr>
        <p:txBody>
          <a:bodyPr wrap="none" lIns="0" tIns="0" rIns="0" bIns="0" rtlCol="0" anchor="t"/>
          <a:lstStyle/>
          <a:p>
            <a:pPr algn="l" indent="0" marL="0">
              <a:lnSpc>
                <a:spcPct val="104000"/>
              </a:lnSpc>
              <a:buNone/>
            </a:pPr>
            <a:r>
              <a:rPr lang="en-US" sz="1950" b="1" dirty="0">
                <a:solidFill>
                  <a:srgbClr val="272525"/>
                </a:solidFill>
                <a:latin typeface="Petrona Bold" pitchFamily="34" charset="0"/>
                <a:ea typeface="Petrona Bold" pitchFamily="34" charset="-122"/>
                <a:cs typeface="Petrona Bold" pitchFamily="34" charset="-120"/>
              </a:rPr>
              <a:t>Image Placeholders</a:t>
            </a:r>
            <a:endParaRPr lang="en-US" sz="1950" dirty="0"/>
          </a:p>
        </p:txBody>
      </p:sp>
      <p:sp>
        <p:nvSpPr>
          <p:cNvPr id="9" name="Text 7"/>
          <p:cNvSpPr/>
          <p:nvPr/>
        </p:nvSpPr>
        <p:spPr>
          <a:xfrm>
            <a:off x="4542716" y="3534966"/>
            <a:ext cx="31061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Meninggalkan ruang visual kosong untuk Anda isi sendiri nanti</a:t>
            </a:r>
            <a:endParaRPr lang="en-US" sz="1450" dirty="0"/>
          </a:p>
        </p:txBody>
      </p:sp>
      <p:sp>
        <p:nvSpPr>
          <p:cNvPr id="10" name="Shape 8"/>
          <p:cNvSpPr/>
          <p:nvPr/>
        </p:nvSpPr>
        <p:spPr>
          <a:xfrm>
            <a:off x="8033244" y="2916138"/>
            <a:ext cx="3496877" cy="1721445"/>
          </a:xfrm>
          <a:prstGeom prst="roundRect">
            <a:avLst>
              <a:gd name="adj" fmla="val 4612"/>
            </a:avLst>
          </a:prstGeom>
          <a:solidFill>
            <a:srgbClr val="CCEEFF"/>
          </a:solidFill>
          <a:ln w="6350">
            <a:solidFill>
              <a:srgbClr val="B2D4E5"/>
            </a:solidFill>
            <a:prstDash val="solid"/>
          </a:ln>
        </p:spPr>
      </p:sp>
      <p:sp>
        <p:nvSpPr>
          <p:cNvPr id="11" name="Text 9"/>
          <p:cNvSpPr/>
          <p:nvPr/>
        </p:nvSpPr>
        <p:spPr>
          <a:xfrm>
            <a:off x="8228600" y="3111500"/>
            <a:ext cx="3106164" cy="310059"/>
          </a:xfrm>
          <a:prstGeom prst="rect">
            <a:avLst/>
          </a:prstGeom>
          <a:noFill/>
          <a:ln/>
        </p:spPr>
        <p:txBody>
          <a:bodyPr wrap="none" lIns="0" tIns="0" rIns="0" bIns="0" rtlCol="0" anchor="t"/>
          <a:lstStyle/>
          <a:p>
            <a:pPr algn="l" indent="0" marL="0">
              <a:lnSpc>
                <a:spcPct val="104000"/>
              </a:lnSpc>
              <a:buNone/>
            </a:pPr>
            <a:r>
              <a:rPr lang="en-US" sz="1950" b="1" dirty="0">
                <a:solidFill>
                  <a:srgbClr val="272525"/>
                </a:solidFill>
                <a:latin typeface="Petrona Bold" pitchFamily="34" charset="0"/>
                <a:ea typeface="Petrona Bold" pitchFamily="34" charset="-122"/>
                <a:cs typeface="Petrona Bold" pitchFamily="34" charset="-120"/>
              </a:rPr>
              <a:t>Default (Otomatis)</a:t>
            </a:r>
            <a:endParaRPr lang="en-US" sz="1950" dirty="0"/>
          </a:p>
        </p:txBody>
      </p:sp>
      <p:sp>
        <p:nvSpPr>
          <p:cNvPr id="12" name="Text 10"/>
          <p:cNvSpPr/>
          <p:nvPr/>
        </p:nvSpPr>
        <p:spPr>
          <a:xfrm>
            <a:off x="8228600" y="3534966"/>
            <a:ext cx="3106164"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Atau biarkan default, Gamma otomatis mengisi gambar/ilustrasi sesuai konteks</a:t>
            </a:r>
            <a:endParaRPr lang="en-US" sz="1450" dirty="0"/>
          </a:p>
        </p:txBody>
      </p:sp>
      <p:sp>
        <p:nvSpPr>
          <p:cNvPr id="13" name="Text 11"/>
          <p:cNvSpPr/>
          <p:nvPr/>
        </p:nvSpPr>
        <p:spPr>
          <a:xfrm>
            <a:off x="661475" y="4850209"/>
            <a:ext cx="1086874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Anda juga bisa memilih tema visual (warna, font, gaya kartu) di tahap ini. Setelah semua pengaturan selesai, klik </a:t>
            </a:r>
            <a:pPr algn="l" indent="0" marL="0">
              <a:lnSpc>
                <a:spcPct val="133000"/>
              </a:lnSpc>
              <a:buNone/>
            </a:pPr>
            <a:r>
              <a:rPr lang="en-US" sz="1450" b="1" dirty="0">
                <a:solidFill>
                  <a:srgbClr val="272525"/>
                </a:solidFill>
                <a:latin typeface="Inter Bold" pitchFamily="34" charset="0"/>
                <a:ea typeface="Inter Bold" pitchFamily="34" charset="-122"/>
                <a:cs typeface="Inter Bold" pitchFamily="34" charset="-120"/>
              </a:rPr>
              <a:t>Generate</a:t>
            </a:r>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 dan tunggu prosesnya.</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75866"/>
            <a:ext cx="10868745" cy="496193"/>
          </a:xfrm>
          <a:prstGeom prst="rect">
            <a:avLst/>
          </a:prstGeom>
          <a:noFill/>
          <a:ln/>
        </p:spPr>
        <p:txBody>
          <a:bodyPr wrap="none" lIns="0" tIns="0" rIns="0" bIns="0" rtlCol="0" anchor="t"/>
          <a:lstStyle/>
          <a:p>
            <a:pPr algn="l" indent="0" marL="0">
              <a:lnSpc>
                <a:spcPct val="104000"/>
              </a:lnSpc>
              <a:buNone/>
            </a:pPr>
            <a:r>
              <a:rPr lang="en-US" sz="3100" b="1" dirty="0">
                <a:solidFill>
                  <a:srgbClr val="000000"/>
                </a:solidFill>
                <a:latin typeface="Petrona Bold" pitchFamily="34" charset="0"/>
                <a:ea typeface="Petrona Bold" pitchFamily="34" charset="-122"/>
                <a:cs typeface="Petrona Bold" pitchFamily="34" charset="-120"/>
              </a:rPr>
              <a:t>Menyunting dengan Editor Berbasis Kartu</a:t>
            </a:r>
            <a:endParaRPr lang="en-US" sz="3100" dirty="0"/>
          </a:p>
        </p:txBody>
      </p:sp>
      <p:sp>
        <p:nvSpPr>
          <p:cNvPr id="3" name="Shape 1"/>
          <p:cNvSpPr/>
          <p:nvPr/>
        </p:nvSpPr>
        <p:spPr>
          <a:xfrm>
            <a:off x="661475" y="1313954"/>
            <a:ext cx="340213" cy="340221"/>
          </a:xfrm>
          <a:prstGeom prst="roundRect">
            <a:avLst>
              <a:gd name="adj" fmla="val 18668"/>
            </a:avLst>
          </a:prstGeom>
          <a:solidFill>
            <a:srgbClr val="CCEEFF"/>
          </a:solidFill>
          <a:ln w="6350">
            <a:solidFill>
              <a:srgbClr val="B2D4E5"/>
            </a:solidFill>
            <a:prstDash val="solid"/>
          </a:ln>
        </p:spPr>
      </p:sp>
      <p:sp>
        <p:nvSpPr>
          <p:cNvPr id="4" name="Text 2"/>
          <p:cNvSpPr/>
          <p:nvPr/>
        </p:nvSpPr>
        <p:spPr>
          <a:xfrm>
            <a:off x="1122632" y="1365845"/>
            <a:ext cx="10407588" cy="248047"/>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Struktur editor</a:t>
            </a:r>
            <a:endParaRPr lang="en-US" sz="1550" dirty="0"/>
          </a:p>
        </p:txBody>
      </p:sp>
      <p:sp>
        <p:nvSpPr>
          <p:cNvPr id="5" name="Text 3"/>
          <p:cNvSpPr/>
          <p:nvPr/>
        </p:nvSpPr>
        <p:spPr>
          <a:xfrm>
            <a:off x="1122632" y="1686421"/>
            <a:ext cx="10407588" cy="217686"/>
          </a:xfrm>
          <a:prstGeom prst="rect">
            <a:avLst/>
          </a:prstGeom>
          <a:noFill/>
          <a:ln/>
        </p:spPr>
        <p:txBody>
          <a:bodyPr wrap="none" lIns="0" tIns="0" rIns="0" bIns="0" rtlCol="0" anchor="t"/>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Gamma memakai editor berbasis kartu — setiap slide adalah satu "card" yang bisa diedit satu per satu.</a:t>
            </a:r>
            <a:endParaRPr lang="en-US" sz="1150" dirty="0"/>
          </a:p>
        </p:txBody>
      </p:sp>
      <p:sp>
        <p:nvSpPr>
          <p:cNvPr id="6" name="Shape 4"/>
          <p:cNvSpPr/>
          <p:nvPr/>
        </p:nvSpPr>
        <p:spPr>
          <a:xfrm>
            <a:off x="661475" y="2146002"/>
            <a:ext cx="340213" cy="340221"/>
          </a:xfrm>
          <a:prstGeom prst="roundRect">
            <a:avLst>
              <a:gd name="adj" fmla="val 18668"/>
            </a:avLst>
          </a:prstGeom>
          <a:solidFill>
            <a:srgbClr val="CCEEFF"/>
          </a:solidFill>
          <a:ln w="6350">
            <a:solidFill>
              <a:srgbClr val="B2D4E5"/>
            </a:solidFill>
            <a:prstDash val="solid"/>
          </a:ln>
        </p:spPr>
      </p:sp>
      <p:sp>
        <p:nvSpPr>
          <p:cNvPr id="7" name="Text 5"/>
          <p:cNvSpPr/>
          <p:nvPr/>
        </p:nvSpPr>
        <p:spPr>
          <a:xfrm>
            <a:off x="1122632" y="2197894"/>
            <a:ext cx="10407588" cy="248047"/>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Edit dengan AI per kartu</a:t>
            </a:r>
            <a:endParaRPr lang="en-US" sz="1550" dirty="0"/>
          </a:p>
        </p:txBody>
      </p:sp>
      <p:sp>
        <p:nvSpPr>
          <p:cNvPr id="8" name="Text 6"/>
          <p:cNvSpPr/>
          <p:nvPr/>
        </p:nvSpPr>
        <p:spPr>
          <a:xfrm>
            <a:off x="1122632" y="2518470"/>
            <a:ext cx="10407588" cy="217686"/>
          </a:xfrm>
          <a:prstGeom prst="rect">
            <a:avLst/>
          </a:prstGeom>
          <a:noFill/>
          <a:ln/>
        </p:spPr>
        <p:txBody>
          <a:bodyPr wrap="none" lIns="0" tIns="0" rIns="0" bIns="0" rtlCol="0" anchor="t"/>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Klik ikon kilau (sparkle) di pojok kiri atas kartu untuk meminta AI menyarankan perbaikan tata letak dan konten.</a:t>
            </a:r>
            <a:endParaRPr lang="en-US" sz="1150" dirty="0"/>
          </a:p>
        </p:txBody>
      </p:sp>
      <p:sp>
        <p:nvSpPr>
          <p:cNvPr id="9" name="Shape 7"/>
          <p:cNvSpPr/>
          <p:nvPr/>
        </p:nvSpPr>
        <p:spPr>
          <a:xfrm>
            <a:off x="661475" y="2978051"/>
            <a:ext cx="340213" cy="340221"/>
          </a:xfrm>
          <a:prstGeom prst="roundRect">
            <a:avLst>
              <a:gd name="adj" fmla="val 18668"/>
            </a:avLst>
          </a:prstGeom>
          <a:solidFill>
            <a:srgbClr val="CCEEFF"/>
          </a:solidFill>
          <a:ln w="6350">
            <a:solidFill>
              <a:srgbClr val="B2D4E5"/>
            </a:solidFill>
            <a:prstDash val="solid"/>
          </a:ln>
        </p:spPr>
      </p:sp>
      <p:sp>
        <p:nvSpPr>
          <p:cNvPr id="10" name="Text 8"/>
          <p:cNvSpPr/>
          <p:nvPr/>
        </p:nvSpPr>
        <p:spPr>
          <a:xfrm>
            <a:off x="1122632" y="3029942"/>
            <a:ext cx="10407588" cy="248047"/>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Edit banyak kartu sekaligus (fitur Pro)</a:t>
            </a:r>
            <a:endParaRPr lang="en-US" sz="1550" dirty="0"/>
          </a:p>
        </p:txBody>
      </p:sp>
      <p:sp>
        <p:nvSpPr>
          <p:cNvPr id="11" name="Text 9"/>
          <p:cNvSpPr/>
          <p:nvPr/>
        </p:nvSpPr>
        <p:spPr>
          <a:xfrm>
            <a:off x="1122632" y="3350518"/>
            <a:ext cx="10407588" cy="217686"/>
          </a:xfrm>
          <a:prstGeom prst="rect">
            <a:avLst/>
          </a:prstGeom>
          <a:noFill/>
          <a:ln/>
        </p:spPr>
        <p:txBody>
          <a:bodyPr wrap="none" lIns="0" tIns="0" rIns="0" bIns="0" rtlCol="0" anchor="t"/>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Ikon kilau di pojok kanan atas layar memungkinkan edit beberapa kartu sekaligus — fitur ini khusus akun Pro.</a:t>
            </a:r>
            <a:endParaRPr lang="en-US" sz="1150" dirty="0"/>
          </a:p>
        </p:txBody>
      </p:sp>
      <p:sp>
        <p:nvSpPr>
          <p:cNvPr id="12" name="Shape 10"/>
          <p:cNvSpPr/>
          <p:nvPr/>
        </p:nvSpPr>
        <p:spPr>
          <a:xfrm>
            <a:off x="661475" y="3810099"/>
            <a:ext cx="340213" cy="340221"/>
          </a:xfrm>
          <a:prstGeom prst="roundRect">
            <a:avLst>
              <a:gd name="adj" fmla="val 18668"/>
            </a:avLst>
          </a:prstGeom>
          <a:solidFill>
            <a:srgbClr val="CCEEFF"/>
          </a:solidFill>
          <a:ln w="6350">
            <a:solidFill>
              <a:srgbClr val="B2D4E5"/>
            </a:solidFill>
            <a:prstDash val="solid"/>
          </a:ln>
        </p:spPr>
      </p:sp>
      <p:sp>
        <p:nvSpPr>
          <p:cNvPr id="13" name="Text 11"/>
          <p:cNvSpPr/>
          <p:nvPr/>
        </p:nvSpPr>
        <p:spPr>
          <a:xfrm>
            <a:off x="1122632" y="3861991"/>
            <a:ext cx="10407588" cy="248047"/>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Edit manual</a:t>
            </a:r>
            <a:endParaRPr lang="en-US" sz="1550" dirty="0"/>
          </a:p>
        </p:txBody>
      </p:sp>
      <p:sp>
        <p:nvSpPr>
          <p:cNvPr id="14" name="Text 12"/>
          <p:cNvSpPr/>
          <p:nvPr/>
        </p:nvSpPr>
        <p:spPr>
          <a:xfrm>
            <a:off x="1122632" y="4182566"/>
            <a:ext cx="10407588"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Anda tetap bisa mengklik teks untuk mengubah kalimat, menyeret elemen untuk mengatur posisi, mengganti gambar, atau menambah/menghapus kartu lewat tombol "+" di antara slide.</a:t>
            </a:r>
            <a:endParaRPr lang="en-US" sz="1150" dirty="0"/>
          </a:p>
        </p:txBody>
      </p:sp>
      <p:sp>
        <p:nvSpPr>
          <p:cNvPr id="15" name="Shape 13"/>
          <p:cNvSpPr/>
          <p:nvPr/>
        </p:nvSpPr>
        <p:spPr>
          <a:xfrm>
            <a:off x="661475" y="4859834"/>
            <a:ext cx="340213" cy="340221"/>
          </a:xfrm>
          <a:prstGeom prst="roundRect">
            <a:avLst>
              <a:gd name="adj" fmla="val 18668"/>
            </a:avLst>
          </a:prstGeom>
          <a:solidFill>
            <a:srgbClr val="CCEEFF"/>
          </a:solidFill>
          <a:ln w="6350">
            <a:solidFill>
              <a:srgbClr val="B2D4E5"/>
            </a:solidFill>
            <a:prstDash val="solid"/>
          </a:ln>
        </p:spPr>
      </p:sp>
      <p:sp>
        <p:nvSpPr>
          <p:cNvPr id="16" name="Text 14"/>
          <p:cNvSpPr/>
          <p:nvPr/>
        </p:nvSpPr>
        <p:spPr>
          <a:xfrm>
            <a:off x="1122632" y="4911725"/>
            <a:ext cx="10407588" cy="248047"/>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Mengganti tema</a:t>
            </a:r>
            <a:endParaRPr lang="en-US" sz="1550" dirty="0"/>
          </a:p>
        </p:txBody>
      </p:sp>
      <p:sp>
        <p:nvSpPr>
          <p:cNvPr id="17" name="Text 15"/>
          <p:cNvSpPr/>
          <p:nvPr/>
        </p:nvSpPr>
        <p:spPr>
          <a:xfrm>
            <a:off x="1122632" y="5232301"/>
            <a:ext cx="10407588" cy="217686"/>
          </a:xfrm>
          <a:prstGeom prst="rect">
            <a:avLst/>
          </a:prstGeom>
          <a:noFill/>
          <a:ln/>
        </p:spPr>
        <p:txBody>
          <a:bodyPr wrap="none" lIns="0" tIns="0" rIns="0" bIns="0" rtlCol="0" anchor="t"/>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Ubah tema kapan saja lewat menu "Theme" di pojok kanan atas — perubahan ini dilakukan manual, belum otomatis oleh AI.</a:t>
            </a:r>
            <a:endParaRPr lang="en-US" sz="1150" dirty="0"/>
          </a:p>
        </p:txBody>
      </p:sp>
      <p:sp>
        <p:nvSpPr>
          <p:cNvPr id="18" name="Shape 16"/>
          <p:cNvSpPr/>
          <p:nvPr/>
        </p:nvSpPr>
        <p:spPr>
          <a:xfrm>
            <a:off x="661475" y="5691882"/>
            <a:ext cx="340213" cy="340221"/>
          </a:xfrm>
          <a:prstGeom prst="roundRect">
            <a:avLst>
              <a:gd name="adj" fmla="val 18668"/>
            </a:avLst>
          </a:prstGeom>
          <a:solidFill>
            <a:srgbClr val="CCEEFF"/>
          </a:solidFill>
          <a:ln w="6350">
            <a:solidFill>
              <a:srgbClr val="B2D4E5"/>
            </a:solidFill>
            <a:prstDash val="solid"/>
          </a:ln>
        </p:spPr>
      </p:sp>
      <p:sp>
        <p:nvSpPr>
          <p:cNvPr id="19" name="Text 17"/>
          <p:cNvSpPr/>
          <p:nvPr/>
        </p:nvSpPr>
        <p:spPr>
          <a:xfrm>
            <a:off x="1122632" y="5743773"/>
            <a:ext cx="10407588" cy="248047"/>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Agar hasil tidak terasa "AI banget"</a:t>
            </a:r>
            <a:endParaRPr lang="en-US" sz="1550" dirty="0"/>
          </a:p>
        </p:txBody>
      </p:sp>
      <p:sp>
        <p:nvSpPr>
          <p:cNvPr id="20" name="Text 18"/>
          <p:cNvSpPr/>
          <p:nvPr/>
        </p:nvSpPr>
        <p:spPr>
          <a:xfrm>
            <a:off x="1122632" y="6064349"/>
            <a:ext cx="10407588" cy="217686"/>
          </a:xfrm>
          <a:prstGeom prst="rect">
            <a:avLst/>
          </a:prstGeom>
          <a:noFill/>
          <a:ln/>
        </p:spPr>
        <p:txBody>
          <a:bodyPr wrap="none" lIns="0" tIns="0" rIns="0" bIns="0" rtlCol="0" anchor="t"/>
          <a:lstStyle/>
          <a:p>
            <a:pPr algn="l" indent="0" marL="0">
              <a:lnSpc>
                <a:spcPct val="120000"/>
              </a:lnSpc>
              <a:buNone/>
            </a:pPr>
            <a:r>
              <a:rPr lang="en-US" sz="1150" dirty="0">
                <a:solidFill>
                  <a:srgbClr val="272525"/>
                </a:solidFill>
                <a:latin typeface="Inter" pitchFamily="34" charset="0"/>
                <a:ea typeface="Inter" pitchFamily="34" charset="-122"/>
                <a:cs typeface="Inter" pitchFamily="34" charset="-120"/>
              </a:rPr>
              <a:t>Gunakan data/contoh spesifik, sesuaikan alur sesuai kebutuhan sendiri, dan rapikan slide yang teksnya terlalu padat.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211090"/>
            <a:ext cx="10868745" cy="620216"/>
          </a:xfrm>
          <a:prstGeom prst="rect">
            <a:avLst/>
          </a:prstGeom>
          <a:noFill/>
          <a:ln/>
        </p:spPr>
        <p:txBody>
          <a:bodyPr wrap="none" lIns="0" tIns="0" rIns="0" bIns="0" rtlCol="0" anchor="t"/>
          <a:lstStyle/>
          <a:p>
            <a:pPr algn="l" indent="0" marL="0">
              <a:lnSpc>
                <a:spcPct val="104000"/>
              </a:lnSpc>
              <a:buNone/>
            </a:pPr>
            <a:r>
              <a:rPr lang="en-US" sz="3900" b="1" dirty="0">
                <a:solidFill>
                  <a:srgbClr val="000000"/>
                </a:solidFill>
                <a:latin typeface="Petrona Bold" pitchFamily="34" charset="0"/>
                <a:ea typeface="Petrona Bold" pitchFamily="34" charset="-122"/>
                <a:cs typeface="Petrona Bold" pitchFamily="34" charset="-120"/>
              </a:rPr>
              <a:t>Menambahkan Elemen Multimedia</a:t>
            </a:r>
            <a:endParaRPr lang="en-US" sz="3900" dirty="0"/>
          </a:p>
        </p:txBody>
      </p:sp>
      <p:sp>
        <p:nvSpPr>
          <p:cNvPr id="3" name="Text 1"/>
          <p:cNvSpPr/>
          <p:nvPr/>
        </p:nvSpPr>
        <p:spPr>
          <a:xfrm>
            <a:off x="661475" y="3209330"/>
            <a:ext cx="1086874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Anda bisa memperkaya slide dengan gambar buatan AI, gambar unggahan sendiri, grafik/chart untuk data numerik, ikon, hingga embed video atau elemen interaktif — terutama bila presentasi akan dibagikan sebagai link, bukan file statis.</a:t>
            </a:r>
            <a:endParaRPr lang="en-US" sz="14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4026793"/>
            <a:ext cx="472468" cy="472480"/>
          </a:xfrm>
          <a:prstGeom prst="rect">
            <a:avLst/>
          </a:prstGeom>
        </p:spPr>
      </p:pic>
      <p:sp>
        <p:nvSpPr>
          <p:cNvPr id="5" name="Text 2"/>
          <p:cNvSpPr/>
          <p:nvPr/>
        </p:nvSpPr>
        <p:spPr>
          <a:xfrm>
            <a:off x="1370177" y="4026793"/>
            <a:ext cx="2756724" cy="310059"/>
          </a:xfrm>
          <a:prstGeom prst="rect">
            <a:avLst/>
          </a:prstGeom>
          <a:noFill/>
          <a:ln/>
        </p:spPr>
        <p:txBody>
          <a:bodyPr wrap="none" lIns="0" tIns="0" rIns="0" bIns="0" rtlCol="0" anchor="t"/>
          <a:lstStyle/>
          <a:p>
            <a:pPr algn="l" indent="0" marL="0">
              <a:lnSpc>
                <a:spcPct val="104000"/>
              </a:lnSpc>
              <a:buNone/>
            </a:pPr>
            <a:r>
              <a:rPr lang="en-US" sz="1950" b="1" dirty="0">
                <a:solidFill>
                  <a:srgbClr val="272525"/>
                </a:solidFill>
                <a:latin typeface="Petrona Bold" pitchFamily="34" charset="0"/>
                <a:ea typeface="Petrona Bold" pitchFamily="34" charset="-122"/>
                <a:cs typeface="Petrona Bold" pitchFamily="34" charset="-120"/>
              </a:rPr>
              <a:t>Gambar AI &amp; Unggahan</a:t>
            </a:r>
            <a:endParaRPr lang="en-US" sz="19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63135" y="4026793"/>
            <a:ext cx="472468" cy="472480"/>
          </a:xfrm>
          <a:prstGeom prst="rect">
            <a:avLst/>
          </a:prstGeom>
        </p:spPr>
      </p:pic>
      <p:sp>
        <p:nvSpPr>
          <p:cNvPr id="7" name="Text 3"/>
          <p:cNvSpPr/>
          <p:nvPr/>
        </p:nvSpPr>
        <p:spPr>
          <a:xfrm>
            <a:off x="5071836" y="4026793"/>
            <a:ext cx="2756724" cy="310059"/>
          </a:xfrm>
          <a:prstGeom prst="rect">
            <a:avLst/>
          </a:prstGeom>
          <a:noFill/>
          <a:ln/>
        </p:spPr>
        <p:txBody>
          <a:bodyPr wrap="none" lIns="0" tIns="0" rIns="0" bIns="0" rtlCol="0" anchor="t"/>
          <a:lstStyle/>
          <a:p>
            <a:pPr algn="l" indent="0" marL="0">
              <a:lnSpc>
                <a:spcPct val="104000"/>
              </a:lnSpc>
              <a:buNone/>
            </a:pPr>
            <a:r>
              <a:rPr lang="en-US" sz="1950" b="1" dirty="0">
                <a:solidFill>
                  <a:srgbClr val="272525"/>
                </a:solidFill>
                <a:latin typeface="Petrona Bold" pitchFamily="34" charset="0"/>
                <a:ea typeface="Petrona Bold" pitchFamily="34" charset="-122"/>
                <a:cs typeface="Petrona Bold" pitchFamily="34" charset="-120"/>
              </a:rPr>
              <a:t>Grafik &amp; Chart</a:t>
            </a:r>
            <a:endParaRPr lang="en-US" sz="19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64794" y="4026793"/>
            <a:ext cx="472468" cy="472480"/>
          </a:xfrm>
          <a:prstGeom prst="rect">
            <a:avLst/>
          </a:prstGeom>
        </p:spPr>
      </p:pic>
      <p:sp>
        <p:nvSpPr>
          <p:cNvPr id="9" name="Text 4"/>
          <p:cNvSpPr/>
          <p:nvPr/>
        </p:nvSpPr>
        <p:spPr>
          <a:xfrm>
            <a:off x="8773496" y="4026793"/>
            <a:ext cx="2756724" cy="620117"/>
          </a:xfrm>
          <a:prstGeom prst="rect">
            <a:avLst/>
          </a:prstGeom>
          <a:noFill/>
          <a:ln/>
        </p:spPr>
        <p:txBody>
          <a:bodyPr wrap="square" lIns="0" tIns="0" rIns="0" bIns="0" rtlCol="0" anchor="t">
            <a:normAutofit/>
          </a:bodyPr>
          <a:lstStyle/>
          <a:p>
            <a:pPr algn="l" indent="0" marL="0">
              <a:lnSpc>
                <a:spcPct val="104000"/>
              </a:lnSpc>
              <a:buNone/>
            </a:pPr>
            <a:r>
              <a:rPr lang="en-US" sz="1950" b="1" dirty="0">
                <a:solidFill>
                  <a:srgbClr val="272525"/>
                </a:solidFill>
                <a:latin typeface="Petrona Bold" pitchFamily="34" charset="0"/>
                <a:ea typeface="Petrona Bold" pitchFamily="34" charset="-122"/>
                <a:cs typeface="Petrona Bold" pitchFamily="34" charset="-120"/>
              </a:rPr>
              <a:t>Embed Video &amp; Interaktif</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372320"/>
            <a:ext cx="6296860" cy="620216"/>
          </a:xfrm>
          <a:prstGeom prst="rect">
            <a:avLst/>
          </a:prstGeom>
          <a:noFill/>
          <a:ln/>
        </p:spPr>
        <p:txBody>
          <a:bodyPr wrap="none" lIns="0" tIns="0" rIns="0" bIns="0" rtlCol="0" anchor="t"/>
          <a:lstStyle/>
          <a:p>
            <a:pPr algn="l" indent="0" marL="0">
              <a:lnSpc>
                <a:spcPct val="104000"/>
              </a:lnSpc>
              <a:buNone/>
            </a:pPr>
            <a:r>
              <a:rPr lang="en-US" sz="3900" b="1" dirty="0">
                <a:solidFill>
                  <a:srgbClr val="000000"/>
                </a:solidFill>
                <a:latin typeface="Petrona Bold" pitchFamily="34" charset="0"/>
                <a:ea typeface="Petrona Bold" pitchFamily="34" charset="-122"/>
                <a:cs typeface="Petrona Bold" pitchFamily="34" charset="-120"/>
              </a:rPr>
              <a:t>Meninjau Hasil Akhir</a:t>
            </a:r>
            <a:endParaRPr lang="en-US" sz="3900" dirty="0"/>
          </a:p>
        </p:txBody>
      </p:sp>
      <p:sp>
        <p:nvSpPr>
          <p:cNvPr id="4" name="Text 1"/>
          <p:cNvSpPr/>
          <p:nvPr/>
        </p:nvSpPr>
        <p:spPr>
          <a:xfrm>
            <a:off x="5233360" y="3276005"/>
            <a:ext cx="6296860"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Gunakan mode </a:t>
            </a:r>
            <a:pPr algn="l" indent="0" marL="0">
              <a:lnSpc>
                <a:spcPct val="133000"/>
              </a:lnSpc>
              <a:buNone/>
            </a:pPr>
            <a:r>
              <a:rPr lang="en-US" sz="1450" b="1" dirty="0">
                <a:solidFill>
                  <a:srgbClr val="272525"/>
                </a:solidFill>
                <a:latin typeface="Inter Bold" pitchFamily="34" charset="0"/>
                <a:ea typeface="Inter Bold" pitchFamily="34" charset="-122"/>
                <a:cs typeface="Inter Bold" pitchFamily="34" charset="-120"/>
              </a:rPr>
              <a:t>Present/Preview</a:t>
            </a:r>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 (ikon "play" di pojok kanan atas) untuk melihat tampilan presentasi seperti saat dipresentasikan langsung — cek transisi antar-slide, teks yang mungkin terpotong, dan alur logika keseluruhan.</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32036"/>
            <a:ext cx="10868745" cy="558205"/>
          </a:xfrm>
          <a:prstGeom prst="rect">
            <a:avLst/>
          </a:prstGeom>
          <a:noFill/>
          <a:ln/>
        </p:spPr>
        <p:txBody>
          <a:bodyPr wrap="none" lIns="0" tIns="0" rIns="0" bIns="0" rtlCol="0" anchor="t"/>
          <a:lstStyle/>
          <a:p>
            <a:pPr algn="l" indent="0" marL="0">
              <a:lnSpc>
                <a:spcPct val="104000"/>
              </a:lnSpc>
              <a:buNone/>
            </a:pPr>
            <a:r>
              <a:rPr lang="en-US" sz="3500" b="1" dirty="0">
                <a:solidFill>
                  <a:srgbClr val="000000"/>
                </a:solidFill>
                <a:latin typeface="Petrona Bold" pitchFamily="34" charset="0"/>
                <a:ea typeface="Petrona Bold" pitchFamily="34" charset="-122"/>
                <a:cs typeface="Petrona Bold" pitchFamily="34" charset="-120"/>
              </a:rPr>
              <a:t>Mengekspor atau Membagikan</a:t>
            </a:r>
            <a:endParaRPr lang="en-US" sz="3500" dirty="0"/>
          </a:p>
        </p:txBody>
      </p:sp>
      <p:sp>
        <p:nvSpPr>
          <p:cNvPr id="3" name="Text 1"/>
          <p:cNvSpPr/>
          <p:nvPr/>
        </p:nvSpPr>
        <p:spPr>
          <a:xfrm>
            <a:off x="661475" y="1596430"/>
            <a:ext cx="11478330" cy="258564"/>
          </a:xfrm>
          <a:prstGeom prst="rect">
            <a:avLst/>
          </a:prstGeom>
          <a:noFill/>
          <a:ln/>
        </p:spPr>
        <p:txBody>
          <a:bodyPr wrap="none" lIns="0" tIns="0" rIns="0" bIns="0" rtlCol="0" anchor="t"/>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Gamma menawarkan beberapa format ekspor lewat tombol </a:t>
            </a:r>
            <a:pPr algn="l" indent="0" marL="0">
              <a:lnSpc>
                <a:spcPct val="127000"/>
              </a:lnSpc>
              <a:buNone/>
            </a:pPr>
            <a:r>
              <a:rPr lang="en-US" sz="1300" b="1" dirty="0">
                <a:solidFill>
                  <a:srgbClr val="272525"/>
                </a:solidFill>
                <a:latin typeface="Inter Bold" pitchFamily="34" charset="0"/>
                <a:ea typeface="Inter Bold" pitchFamily="34" charset="-122"/>
                <a:cs typeface="Inter Bold" pitchFamily="34" charset="-120"/>
              </a:rPr>
              <a:t>"Share"</a:t>
            </a:r>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 atau </a:t>
            </a:r>
            <a:pPr algn="l" indent="0" marL="0">
              <a:lnSpc>
                <a:spcPct val="127000"/>
              </a:lnSpc>
              <a:buNone/>
            </a:pPr>
            <a:r>
              <a:rPr lang="en-US" sz="1300" b="1" dirty="0">
                <a:solidFill>
                  <a:srgbClr val="272525"/>
                </a:solidFill>
                <a:latin typeface="Inter Bold" pitchFamily="34" charset="0"/>
                <a:ea typeface="Inter Bold" pitchFamily="34" charset="-122"/>
                <a:cs typeface="Inter Bold" pitchFamily="34" charset="-120"/>
              </a:rPr>
              <a:t>"Export"</a:t>
            </a:r>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 di pojok kanan atas editor:</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27238"/>
            <a:ext cx="5357778" cy="1757362"/>
          </a:xfrm>
          <a:prstGeom prst="rect">
            <a:avLst/>
          </a:prstGeom>
        </p:spPr>
      </p:pic>
      <p:sp>
        <p:nvSpPr>
          <p:cNvPr id="5" name="Text 2"/>
          <p:cNvSpPr/>
          <p:nvPr/>
        </p:nvSpPr>
        <p:spPr>
          <a:xfrm>
            <a:off x="3238270" y="2154833"/>
            <a:ext cx="204088" cy="255091"/>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Petrona Bold" pitchFamily="34" charset="0"/>
                <a:ea typeface="Petrona Bold" pitchFamily="34" charset="-122"/>
                <a:cs typeface="Petrona Bold" pitchFamily="34" charset="-120"/>
              </a:rPr>
              <a:t>1</a:t>
            </a:r>
            <a:endParaRPr lang="en-US" sz="1600" dirty="0"/>
          </a:p>
        </p:txBody>
      </p:sp>
      <p:sp>
        <p:nvSpPr>
          <p:cNvPr id="6" name="Text 3"/>
          <p:cNvSpPr/>
          <p:nvPr/>
        </p:nvSpPr>
        <p:spPr>
          <a:xfrm>
            <a:off x="850581" y="2707580"/>
            <a:ext cx="4979565" cy="279003"/>
          </a:xfrm>
          <a:prstGeom prst="rect">
            <a:avLst/>
          </a:prstGeom>
          <a:noFill/>
          <a:ln/>
        </p:spPr>
        <p:txBody>
          <a:bodyPr wrap="none" lIns="0" tIns="0" rIns="0" bIns="0" rtlCol="0" anchor="t"/>
          <a:lstStyle/>
          <a:p>
            <a:pPr algn="l" indent="0" marL="0">
              <a:lnSpc>
                <a:spcPct val="104000"/>
              </a:lnSpc>
              <a:buNone/>
            </a:pPr>
            <a:r>
              <a:rPr lang="en-US" sz="1750" b="1" dirty="0">
                <a:solidFill>
                  <a:srgbClr val="272525"/>
                </a:solidFill>
                <a:latin typeface="Petrona Bold" pitchFamily="34" charset="0"/>
                <a:ea typeface="Petrona Bold" pitchFamily="34" charset="-122"/>
                <a:cs typeface="Petrona Bold" pitchFamily="34" charset="-120"/>
              </a:rPr>
              <a:t>PDF</a:t>
            </a:r>
            <a:endParaRPr lang="en-US" sz="1750" dirty="0"/>
          </a:p>
        </p:txBody>
      </p:sp>
      <p:sp>
        <p:nvSpPr>
          <p:cNvPr id="7" name="Text 4"/>
          <p:cNvSpPr/>
          <p:nvPr/>
        </p:nvSpPr>
        <p:spPr>
          <a:xfrm>
            <a:off x="850581" y="3078361"/>
            <a:ext cx="4979565"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Versi statis, mudah dibagikan dan dicetak, menjaga keutuhan desain</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2343" y="2027238"/>
            <a:ext cx="5357877" cy="1757362"/>
          </a:xfrm>
          <a:prstGeom prst="rect">
            <a:avLst/>
          </a:prstGeom>
        </p:spPr>
      </p:pic>
      <p:sp>
        <p:nvSpPr>
          <p:cNvPr id="9" name="Text 5"/>
          <p:cNvSpPr/>
          <p:nvPr/>
        </p:nvSpPr>
        <p:spPr>
          <a:xfrm>
            <a:off x="8749238" y="2154833"/>
            <a:ext cx="204088" cy="255091"/>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Petrona Bold" pitchFamily="34" charset="0"/>
                <a:ea typeface="Petrona Bold" pitchFamily="34" charset="-122"/>
                <a:cs typeface="Petrona Bold" pitchFamily="34" charset="-120"/>
              </a:rPr>
              <a:t>2</a:t>
            </a:r>
            <a:endParaRPr lang="en-US" sz="1600" dirty="0"/>
          </a:p>
        </p:txBody>
      </p:sp>
      <p:sp>
        <p:nvSpPr>
          <p:cNvPr id="10" name="Text 6"/>
          <p:cNvSpPr/>
          <p:nvPr/>
        </p:nvSpPr>
        <p:spPr>
          <a:xfrm>
            <a:off x="6361449" y="2707580"/>
            <a:ext cx="4979664" cy="279003"/>
          </a:xfrm>
          <a:prstGeom prst="rect">
            <a:avLst/>
          </a:prstGeom>
          <a:noFill/>
          <a:ln/>
        </p:spPr>
        <p:txBody>
          <a:bodyPr wrap="none" lIns="0" tIns="0" rIns="0" bIns="0" rtlCol="0" anchor="t"/>
          <a:lstStyle/>
          <a:p>
            <a:pPr algn="l" indent="0" marL="0">
              <a:lnSpc>
                <a:spcPct val="104000"/>
              </a:lnSpc>
              <a:buNone/>
            </a:pPr>
            <a:r>
              <a:rPr lang="en-US" sz="1750" b="1" dirty="0">
                <a:solidFill>
                  <a:srgbClr val="272525"/>
                </a:solidFill>
                <a:latin typeface="Petrona Bold" pitchFamily="34" charset="0"/>
                <a:ea typeface="Petrona Bold" pitchFamily="34" charset="-122"/>
                <a:cs typeface="Petrona Bold" pitchFamily="34" charset="-120"/>
              </a:rPr>
              <a:t>PPTX (PowerPoint)</a:t>
            </a:r>
            <a:endParaRPr lang="en-US" sz="1750" dirty="0"/>
          </a:p>
        </p:txBody>
      </p:sp>
      <p:sp>
        <p:nvSpPr>
          <p:cNvPr id="11" name="Text 7"/>
          <p:cNvSpPr/>
          <p:nvPr/>
        </p:nvSpPr>
        <p:spPr>
          <a:xfrm>
            <a:off x="6361449" y="3078361"/>
            <a:ext cx="4979664" cy="258564"/>
          </a:xfrm>
          <a:prstGeom prst="rect">
            <a:avLst/>
          </a:prstGeom>
          <a:noFill/>
          <a:ln/>
        </p:spPr>
        <p:txBody>
          <a:bodyPr wrap="none" lIns="0" tIns="0" rIns="0" bIns="0" rtlCol="0" anchor="t"/>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Bisa diedit lebih lanjut di Microsoft PowerPoint</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37695"/>
            <a:ext cx="5357778" cy="1757362"/>
          </a:xfrm>
          <a:prstGeom prst="rect">
            <a:avLst/>
          </a:prstGeom>
        </p:spPr>
      </p:pic>
      <p:sp>
        <p:nvSpPr>
          <p:cNvPr id="13" name="Text 8"/>
          <p:cNvSpPr/>
          <p:nvPr/>
        </p:nvSpPr>
        <p:spPr>
          <a:xfrm>
            <a:off x="3238270" y="4065290"/>
            <a:ext cx="204088" cy="255091"/>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Petrona Bold" pitchFamily="34" charset="0"/>
                <a:ea typeface="Petrona Bold" pitchFamily="34" charset="-122"/>
                <a:cs typeface="Petrona Bold" pitchFamily="34" charset="-120"/>
              </a:rPr>
              <a:t>3</a:t>
            </a:r>
            <a:endParaRPr lang="en-US" sz="1600" dirty="0"/>
          </a:p>
        </p:txBody>
      </p:sp>
      <p:sp>
        <p:nvSpPr>
          <p:cNvPr id="14" name="Text 9"/>
          <p:cNvSpPr/>
          <p:nvPr/>
        </p:nvSpPr>
        <p:spPr>
          <a:xfrm>
            <a:off x="850581" y="4618038"/>
            <a:ext cx="4979565" cy="279003"/>
          </a:xfrm>
          <a:prstGeom prst="rect">
            <a:avLst/>
          </a:prstGeom>
          <a:noFill/>
          <a:ln/>
        </p:spPr>
        <p:txBody>
          <a:bodyPr wrap="none" lIns="0" tIns="0" rIns="0" bIns="0" rtlCol="0" anchor="t"/>
          <a:lstStyle/>
          <a:p>
            <a:pPr algn="l" indent="0" marL="0">
              <a:lnSpc>
                <a:spcPct val="104000"/>
              </a:lnSpc>
              <a:buNone/>
            </a:pPr>
            <a:r>
              <a:rPr lang="en-US" sz="1750" b="1" dirty="0">
                <a:solidFill>
                  <a:srgbClr val="272525"/>
                </a:solidFill>
                <a:latin typeface="Petrona Bold" pitchFamily="34" charset="0"/>
                <a:ea typeface="Petrona Bold" pitchFamily="34" charset="-122"/>
                <a:cs typeface="Petrona Bold" pitchFamily="34" charset="-120"/>
              </a:rPr>
              <a:t>Gambar (JPEG/PNG)</a:t>
            </a:r>
            <a:endParaRPr lang="en-US" sz="1750" dirty="0"/>
          </a:p>
        </p:txBody>
      </p:sp>
      <p:sp>
        <p:nvSpPr>
          <p:cNvPr id="15" name="Text 10"/>
          <p:cNvSpPr/>
          <p:nvPr/>
        </p:nvSpPr>
        <p:spPr>
          <a:xfrm>
            <a:off x="850581" y="4988818"/>
            <a:ext cx="4979565" cy="258564"/>
          </a:xfrm>
          <a:prstGeom prst="rect">
            <a:avLst/>
          </a:prstGeom>
          <a:noFill/>
          <a:ln/>
        </p:spPr>
        <p:txBody>
          <a:bodyPr wrap="none" lIns="0" tIns="0" rIns="0" bIns="0" rtlCol="0" anchor="t"/>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Setiap slide sebagai file gambar terpisah</a:t>
            </a:r>
            <a:endParaRPr lang="en-US" sz="13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2343" y="3937695"/>
            <a:ext cx="5357877" cy="1757362"/>
          </a:xfrm>
          <a:prstGeom prst="rect">
            <a:avLst/>
          </a:prstGeom>
        </p:spPr>
      </p:pic>
      <p:sp>
        <p:nvSpPr>
          <p:cNvPr id="17" name="Text 11"/>
          <p:cNvSpPr/>
          <p:nvPr/>
        </p:nvSpPr>
        <p:spPr>
          <a:xfrm>
            <a:off x="8749238" y="4065290"/>
            <a:ext cx="204088" cy="255091"/>
          </a:xfrm>
          <a:prstGeom prst="rect">
            <a:avLst/>
          </a:prstGeom>
          <a:noFill/>
          <a:ln/>
        </p:spPr>
        <p:txBody>
          <a:bodyPr wrap="none" lIns="0" tIns="0" rIns="0" bIns="0" rtlCol="0" anchor="ctr"/>
          <a:lstStyle/>
          <a:p>
            <a:pPr algn="ctr" indent="0" marL="0">
              <a:lnSpc>
                <a:spcPct val="100000"/>
              </a:lnSpc>
              <a:buNone/>
            </a:pPr>
            <a:r>
              <a:rPr lang="en-US" sz="1600" b="1" dirty="0">
                <a:solidFill>
                  <a:srgbClr val="FFFFFF"/>
                </a:solidFill>
                <a:latin typeface="Petrona Bold" pitchFamily="34" charset="0"/>
                <a:ea typeface="Petrona Bold" pitchFamily="34" charset="-122"/>
                <a:cs typeface="Petrona Bold" pitchFamily="34" charset="-120"/>
              </a:rPr>
              <a:t>4</a:t>
            </a:r>
            <a:endParaRPr lang="en-US" sz="1600" dirty="0"/>
          </a:p>
        </p:txBody>
      </p:sp>
      <p:sp>
        <p:nvSpPr>
          <p:cNvPr id="18" name="Text 12"/>
          <p:cNvSpPr/>
          <p:nvPr/>
        </p:nvSpPr>
        <p:spPr>
          <a:xfrm>
            <a:off x="6361449" y="4618038"/>
            <a:ext cx="4979664" cy="279003"/>
          </a:xfrm>
          <a:prstGeom prst="rect">
            <a:avLst/>
          </a:prstGeom>
          <a:noFill/>
          <a:ln/>
        </p:spPr>
        <p:txBody>
          <a:bodyPr wrap="none" lIns="0" tIns="0" rIns="0" bIns="0" rtlCol="0" anchor="t"/>
          <a:lstStyle/>
          <a:p>
            <a:pPr algn="l" indent="0" marL="0">
              <a:lnSpc>
                <a:spcPct val="104000"/>
              </a:lnSpc>
              <a:buNone/>
            </a:pPr>
            <a:r>
              <a:rPr lang="en-US" sz="1750" b="1" dirty="0">
                <a:solidFill>
                  <a:srgbClr val="272525"/>
                </a:solidFill>
                <a:latin typeface="Petrona Bold" pitchFamily="34" charset="0"/>
                <a:ea typeface="Petrona Bold" pitchFamily="34" charset="-122"/>
                <a:cs typeface="Petrona Bold" pitchFamily="34" charset="-120"/>
              </a:rPr>
              <a:t>Tautan langsung (Live Link)</a:t>
            </a:r>
            <a:endParaRPr lang="en-US" sz="1750" dirty="0"/>
          </a:p>
        </p:txBody>
      </p:sp>
      <p:sp>
        <p:nvSpPr>
          <p:cNvPr id="19" name="Text 13"/>
          <p:cNvSpPr/>
          <p:nvPr/>
        </p:nvSpPr>
        <p:spPr>
          <a:xfrm>
            <a:off x="6361449" y="4988818"/>
            <a:ext cx="4979664"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Untuk presentasi langsung dari browser dengan fitur interaktif</a:t>
            </a:r>
            <a:endParaRPr lang="en-US" sz="1300" dirty="0"/>
          </a:p>
        </p:txBody>
      </p:sp>
      <p:sp>
        <p:nvSpPr>
          <p:cNvPr id="20" name="Text 14"/>
          <p:cNvSpPr/>
          <p:nvPr/>
        </p:nvSpPr>
        <p:spPr>
          <a:xfrm>
            <a:off x="661475" y="5867301"/>
            <a:ext cx="11478330" cy="258564"/>
          </a:xfrm>
          <a:prstGeom prst="rect">
            <a:avLst/>
          </a:prstGeom>
          <a:noFill/>
          <a:ln/>
        </p:spPr>
        <p:txBody>
          <a:bodyPr wrap="none" lIns="0" tIns="0" rIns="0" bIns="0" rtlCol="0" anchor="t"/>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Pilih format yang diinginkan, tunggu proses konversi, dan file akan terunduh otomatis atau tersedia sebagai link yang bisa disalin.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7EBD"/>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2026-07-17T03:21:43Z</dcterms:created>
  <dcterms:modified xsi:type="dcterms:W3CDTF">2026-07-17T03:21:43Z</dcterms:modified>
</cp:coreProperties>
</file>